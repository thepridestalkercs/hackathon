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0:08</a:t>
            </a:r>
          </a:p>
          <a:p>
            <a:r>
              <a:t>Errands in Austria are zach, so we put them off. The Laufzettel changes that: a proactive state, plus nudging and gamification that make errands fun. The offices walk. You don’t.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to 0:22</a:t>
            </a:r>
          </a:p>
          <a:p>
            <a:r>
              <a:t>Meet Lena. She moved from Graz to Vienna and has three days to register. The state already knows six of nine rows on her Meldezettel. Still, she types, searches and queues. Then a parking fine in Amtsdeutsch arrives.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to 0:34</a:t>
            </a:r>
          </a:p>
          <a:p>
            <a:r>
              <a:t>We flip it. Her landlord confirms the move in his app. The state notices and puts a notice with the deadline on her desk. The offices fill six rows themselves. Lena answers two questions and 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0:34 to 0:56</a:t>
            </a:r>
          </a:p>
          <a:p>
            <a:r>
              <a:t>Our core idea is the Gipfelstempel: nudging and gamification. Austrians collect summit stamps when they hike. Here, every finished errand is a summit. The route shows how little is left. Stamps land with a thump, her emblem grows. And she keeps the stamp and the time she saved. Voluntary, private, never a ranking.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0:56 to 1:12</a:t>
            </a:r>
          </a:p>
          <a:p>
            <a:r>
              <a:t>This is the slip. Every row gets its stamp, with one official sentence and captions. German terms stay German. Lena answers by tap or by voice, dialect welcome. A person is always one tap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 to 1:26</a:t>
            </a:r>
          </a:p>
          <a:p>
            <a:r>
              <a:t>Meanwhile a parking fine arrives. The original sits next to plain words: what happened, 36 euros by the 28th, what happens if she ignores it. And it links to her move: with the new address she can get a Parkpickerl.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1:26 to 1:48</a:t>
            </a:r>
          </a:p>
          <a:p>
            <a:r>
              <a:t>One journey covers the brief: colloquial input, plain language, a guided workflow, two languages, accessibility, a person on call, and an AI that never signs or pays. For the administration: complete applications and time for the hard cases. Tested with 33 unit tests and nine of nine AI scenarios.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1:48 to 2:00</a:t>
            </a:r>
          </a:p>
          <a:p>
            <a:r>
              <a:t>The offices walk. You don’t. Make it cool, make it fun.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6.jp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33"/>
        </a:solidFill>
        <a:effectLst/>
      </p:bgPr>
    </p:bg>
    <p:spTree>
      <p:nvGrpSpPr>
        <p:cNvPr id="1" name=""/>
        <p:cNvGrpSpPr/>
        <p:nvPr/>
      </p:nvGrpSpPr>
      <p:grpSpPr/>
      <p:sp>
        <p:nvSpPr>
          <p:cNvPr id="2" name="Oval 1"/>
          <p:cNvSpPr/>
          <p:nvPr/>
        </p:nvSpPr>
        <p:spPr>
          <a:xfrm>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rot="6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rot="12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rot="18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rot="24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rot="30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rot="36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rot="42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rot="48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rot="54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rot="60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rot="66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rot="72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rot="78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84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90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rot="96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0200000">
            <a:off x="7315200" y="2642159"/>
            <a:ext cx="4480560" cy="1299362"/>
          </a:xfrm>
          <a:prstGeom prst="ellipse">
            <a:avLst/>
          </a:prstGeom>
          <a:no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12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rot="24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rot="36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rot="48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rot="60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rot="72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rot="84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rot="9600000">
            <a:off x="8092440" y="2867559"/>
            <a:ext cx="2926080" cy="848563"/>
          </a:xfrm>
          <a:prstGeom prst="ellipse">
            <a:avLst/>
          </a:prstGeom>
          <a:noFill/>
          <a:ln w="7620">
            <a:solidFill>
              <a:srgbClr val="CFC8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822960"/>
            <a:ext cx="4937760" cy="4937760"/>
          </a:xfrm>
          <a:prstGeom prst="ellipse">
            <a:avLst/>
          </a:prstGeom>
          <a:noFill/>
          <a:ln w="7620">
            <a:solidFill>
              <a:srgbClr val="CFC8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915400" y="2651760"/>
            <a:ext cx="1280160" cy="1280160"/>
          </a:xfrm>
          <a:prstGeom prst="ellipse">
            <a:avLst/>
          </a:prstGeom>
          <a:solidFill>
            <a:srgbClr val="1F2333"/>
          </a:solidFill>
          <a:ln w="254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189720" y="2926080"/>
            <a:ext cx="731520" cy="731520"/>
          </a:xfrm>
          <a:prstGeom prst="roundRect">
            <a:avLst>
              <a:gd name="adj" fmla="val 1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189720" y="3169920"/>
            <a:ext cx="731520" cy="24384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3" name="Connector 32"/>
          <p:cNvCxnSpPr/>
          <p:nvPr/>
        </p:nvCxnSpPr>
        <p:spPr>
          <a:xfrm>
            <a:off x="9372600" y="3291840"/>
            <a:ext cx="365760" cy="0"/>
          </a:xfrm>
          <a:prstGeom prst="line">
            <a:avLst/>
          </a:prstGeom>
          <a:ln w="30480">
            <a:solidFill>
              <a:srgbClr val="C8102E"/>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9311640" y="3230880"/>
            <a:ext cx="121920" cy="1219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9494520" y="3230880"/>
            <a:ext cx="121920" cy="12192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9677400" y="3230880"/>
            <a:ext cx="121920" cy="121920"/>
          </a:xfrm>
          <a:prstGeom prst="ellipse">
            <a:avLst/>
          </a:prstGeom>
          <a:solidFill>
            <a:srgbClr val="FFFDF7"/>
          </a:solidFill>
          <a:ln w="3048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31520" y="868680"/>
            <a:ext cx="6858000" cy="365760"/>
          </a:xfrm>
          <a:prstGeom prst="rect">
            <a:avLst/>
          </a:prstGeom>
          <a:noFill/>
        </p:spPr>
        <p:txBody>
          <a:bodyPr wrap="square" anchor="t" lIns="0" rIns="0" tIns="0" bIns="0">
            <a:spAutoFit/>
          </a:bodyPr>
          <a:lstStyle/>
          <a:p>
            <a:pPr algn="l">
              <a:lnSpc>
                <a:spcPct val="115000"/>
              </a:lnSpc>
            </a:pPr>
            <a:r>
              <a:rPr sz="1200" b="1" i="0">
                <a:solidFill>
                  <a:srgbClr val="CFC8BB"/>
                </a:solidFill>
                <a:latin typeface="Verdana"/>
              </a:rPr>
              <a:t>OESTERREICH.GV.AT 2030  ·  DIGITAL ASSISTANTS CHALLENGE</a:t>
            </a:r>
          </a:p>
        </p:txBody>
      </p:sp>
      <p:sp>
        <p:nvSpPr>
          <p:cNvPr id="38" name="TextBox 37"/>
          <p:cNvSpPr txBox="1"/>
          <p:nvPr/>
        </p:nvSpPr>
        <p:spPr>
          <a:xfrm>
            <a:off x="731520" y="1463040"/>
            <a:ext cx="6949440" cy="1463040"/>
          </a:xfrm>
          <a:prstGeom prst="rect">
            <a:avLst/>
          </a:prstGeom>
          <a:noFill/>
        </p:spPr>
        <p:txBody>
          <a:bodyPr wrap="square" anchor="t" lIns="0" rIns="0" tIns="0" bIns="0">
            <a:spAutoFit/>
          </a:bodyPr>
          <a:lstStyle/>
          <a:p>
            <a:pPr algn="l">
              <a:lnSpc>
                <a:spcPct val="90000"/>
              </a:lnSpc>
            </a:pPr>
            <a:r>
              <a:rPr sz="8800" b="1" i="0">
                <a:solidFill>
                  <a:srgbClr val="FFFDF7"/>
                </a:solidFill>
                <a:latin typeface="Georgia"/>
              </a:rPr>
              <a:t>Laufzettel</a:t>
            </a:r>
          </a:p>
        </p:txBody>
      </p:sp>
      <p:sp>
        <p:nvSpPr>
          <p:cNvPr id="39" name="TextBox 38"/>
          <p:cNvSpPr txBox="1"/>
          <p:nvPr/>
        </p:nvSpPr>
        <p:spPr>
          <a:xfrm>
            <a:off x="731520" y="2880360"/>
            <a:ext cx="6400800" cy="914400"/>
          </a:xfrm>
          <a:prstGeom prst="rect">
            <a:avLst/>
          </a:prstGeom>
          <a:noFill/>
        </p:spPr>
        <p:txBody>
          <a:bodyPr wrap="square" anchor="t" lIns="0" rIns="0" tIns="0" bIns="0">
            <a:spAutoFit/>
          </a:bodyPr>
          <a:lstStyle/>
          <a:p>
            <a:pPr algn="l">
              <a:lnSpc>
                <a:spcPct val="115000"/>
              </a:lnSpc>
            </a:pPr>
            <a:r>
              <a:rPr sz="2600" b="0" i="1">
                <a:solidFill>
                  <a:srgbClr val="FFFDF7"/>
                </a:solidFill>
                <a:latin typeface="Georgia"/>
              </a:rPr>
              <a:t>Nudging and gamification that make public errands fun.</a:t>
            </a:r>
          </a:p>
        </p:txBody>
      </p:sp>
      <p:sp>
        <p:nvSpPr>
          <p:cNvPr id="40" name="TextBox 39"/>
          <p:cNvSpPr txBox="1"/>
          <p:nvPr/>
        </p:nvSpPr>
        <p:spPr>
          <a:xfrm>
            <a:off x="731520" y="3886200"/>
            <a:ext cx="6583680" cy="548640"/>
          </a:xfrm>
          <a:prstGeom prst="rect">
            <a:avLst/>
          </a:prstGeom>
          <a:noFill/>
        </p:spPr>
        <p:txBody>
          <a:bodyPr wrap="square" anchor="t" lIns="0" rIns="0" tIns="0" bIns="0">
            <a:spAutoFit/>
          </a:bodyPr>
          <a:lstStyle/>
          <a:p>
            <a:pPr algn="l">
              <a:lnSpc>
                <a:spcPct val="115000"/>
              </a:lnSpc>
            </a:pPr>
            <a:r>
              <a:rPr sz="2400" b="0" i="1">
                <a:solidFill>
                  <a:srgbClr val="CFC8BB"/>
                </a:solidFill>
                <a:latin typeface="Georgia"/>
              </a:rPr>
              <a:t>The offices walk. </a:t>
            </a:r>
            <a:r>
              <a:rPr sz="2400" b="1" i="1">
                <a:solidFill>
                  <a:srgbClr val="FF5A6E"/>
                </a:solidFill>
                <a:latin typeface="Georgia"/>
              </a:rPr>
              <a:t>You don’t.</a:t>
            </a:r>
          </a:p>
        </p:txBody>
      </p:sp>
      <p:sp>
        <p:nvSpPr>
          <p:cNvPr id="41" name="Oval 40"/>
          <p:cNvSpPr/>
          <p:nvPr/>
        </p:nvSpPr>
        <p:spPr>
          <a:xfrm>
            <a:off x="731520" y="4800600"/>
            <a:ext cx="566928" cy="566928"/>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bell-w.png"/>
          <p:cNvPicPr>
            <a:picLocks noChangeAspect="1"/>
          </p:cNvPicPr>
          <p:nvPr/>
        </p:nvPicPr>
        <p:blipFill>
          <a:blip r:embed="rId2"/>
          <a:stretch>
            <a:fillRect/>
          </a:stretch>
        </p:blipFill>
        <p:spPr>
          <a:xfrm>
            <a:off x="867582" y="4936662"/>
            <a:ext cx="294804" cy="294804"/>
          </a:xfrm>
          <a:prstGeom prst="rect">
            <a:avLst/>
          </a:prstGeom>
        </p:spPr>
      </p:pic>
      <p:sp>
        <p:nvSpPr>
          <p:cNvPr id="43" name="TextBox 42"/>
          <p:cNvSpPr txBox="1"/>
          <p:nvPr/>
        </p:nvSpPr>
        <p:spPr>
          <a:xfrm>
            <a:off x="1417320" y="4956048"/>
            <a:ext cx="1554480" cy="320040"/>
          </a:xfrm>
          <a:prstGeom prst="rect">
            <a:avLst/>
          </a:prstGeom>
          <a:noFill/>
        </p:spPr>
        <p:txBody>
          <a:bodyPr wrap="square" anchor="t" lIns="0" rIns="0" tIns="0" bIns="0">
            <a:spAutoFit/>
          </a:bodyPr>
          <a:lstStyle/>
          <a:p>
            <a:pPr algn="l">
              <a:lnSpc>
                <a:spcPct val="115000"/>
              </a:lnSpc>
            </a:pPr>
            <a:r>
              <a:rPr sz="1300" b="1" i="0">
                <a:solidFill>
                  <a:srgbClr val="FFFDF7"/>
                </a:solidFill>
                <a:latin typeface="Verdana"/>
              </a:rPr>
              <a:t>Proactive</a:t>
            </a:r>
          </a:p>
        </p:txBody>
      </p:sp>
      <p:sp>
        <p:nvSpPr>
          <p:cNvPr id="44" name="Oval 43"/>
          <p:cNvSpPr/>
          <p:nvPr/>
        </p:nvSpPr>
        <p:spPr>
          <a:xfrm>
            <a:off x="2880360" y="4800600"/>
            <a:ext cx="566928" cy="566928"/>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eye-w.png"/>
          <p:cNvPicPr>
            <a:picLocks noChangeAspect="1"/>
          </p:cNvPicPr>
          <p:nvPr/>
        </p:nvPicPr>
        <p:blipFill>
          <a:blip r:embed="rId3"/>
          <a:stretch>
            <a:fillRect/>
          </a:stretch>
        </p:blipFill>
        <p:spPr>
          <a:xfrm>
            <a:off x="3016422" y="4936662"/>
            <a:ext cx="294804" cy="294804"/>
          </a:xfrm>
          <a:prstGeom prst="rect">
            <a:avLst/>
          </a:prstGeom>
        </p:spPr>
      </p:pic>
      <p:sp>
        <p:nvSpPr>
          <p:cNvPr id="46" name="TextBox 45"/>
          <p:cNvSpPr txBox="1"/>
          <p:nvPr/>
        </p:nvSpPr>
        <p:spPr>
          <a:xfrm>
            <a:off x="3566160" y="4956048"/>
            <a:ext cx="1554480" cy="320040"/>
          </a:xfrm>
          <a:prstGeom prst="rect">
            <a:avLst/>
          </a:prstGeom>
          <a:noFill/>
        </p:spPr>
        <p:txBody>
          <a:bodyPr wrap="square" anchor="t" lIns="0" rIns="0" tIns="0" bIns="0">
            <a:spAutoFit/>
          </a:bodyPr>
          <a:lstStyle/>
          <a:p>
            <a:pPr algn="l">
              <a:lnSpc>
                <a:spcPct val="115000"/>
              </a:lnSpc>
            </a:pPr>
            <a:r>
              <a:rPr sz="1300" b="1" i="0">
                <a:solidFill>
                  <a:srgbClr val="FFFDF7"/>
                </a:solidFill>
                <a:latin typeface="Verdana"/>
              </a:rPr>
              <a:t>Nudging</a:t>
            </a:r>
          </a:p>
        </p:txBody>
      </p:sp>
      <p:sp>
        <p:nvSpPr>
          <p:cNvPr id="47" name="Oval 46"/>
          <p:cNvSpPr/>
          <p:nvPr/>
        </p:nvSpPr>
        <p:spPr>
          <a:xfrm>
            <a:off x="5029200" y="4800600"/>
            <a:ext cx="566928" cy="566928"/>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ummit-i.png"/>
          <p:cNvPicPr>
            <a:picLocks noChangeAspect="1"/>
          </p:cNvPicPr>
          <p:nvPr/>
        </p:nvPicPr>
        <p:blipFill>
          <a:blip r:embed="rId4"/>
          <a:stretch>
            <a:fillRect/>
          </a:stretch>
        </p:blipFill>
        <p:spPr>
          <a:xfrm>
            <a:off x="5165262" y="4936662"/>
            <a:ext cx="294804" cy="294804"/>
          </a:xfrm>
          <a:prstGeom prst="rect">
            <a:avLst/>
          </a:prstGeom>
        </p:spPr>
      </p:pic>
      <p:sp>
        <p:nvSpPr>
          <p:cNvPr id="49" name="TextBox 48"/>
          <p:cNvSpPr txBox="1"/>
          <p:nvPr/>
        </p:nvSpPr>
        <p:spPr>
          <a:xfrm>
            <a:off x="5715000" y="4956048"/>
            <a:ext cx="1554480" cy="320040"/>
          </a:xfrm>
          <a:prstGeom prst="rect">
            <a:avLst/>
          </a:prstGeom>
          <a:noFill/>
        </p:spPr>
        <p:txBody>
          <a:bodyPr wrap="square" anchor="t" lIns="0" rIns="0" tIns="0" bIns="0">
            <a:spAutoFit/>
          </a:bodyPr>
          <a:lstStyle/>
          <a:p>
            <a:pPr algn="l">
              <a:lnSpc>
                <a:spcPct val="115000"/>
              </a:lnSpc>
            </a:pPr>
            <a:r>
              <a:rPr sz="1300" b="1" i="0">
                <a:solidFill>
                  <a:srgbClr val="FFFDF7"/>
                </a:solidFill>
                <a:latin typeface="Verdana"/>
              </a:rPr>
              <a:t>Gipfelstempel</a:t>
            </a:r>
          </a:p>
        </p:txBody>
      </p:sp>
      <p:sp>
        <p:nvSpPr>
          <p:cNvPr id="50" name="TextBox 49"/>
          <p:cNvSpPr txBox="1"/>
          <p:nvPr/>
        </p:nvSpPr>
        <p:spPr>
          <a:xfrm>
            <a:off x="731520" y="6263640"/>
            <a:ext cx="6400800" cy="320040"/>
          </a:xfrm>
          <a:prstGeom prst="rect">
            <a:avLst/>
          </a:prstGeom>
          <a:noFill/>
        </p:spPr>
        <p:txBody>
          <a:bodyPr wrap="square" anchor="t" lIns="0" rIns="0" tIns="0" bIns="0">
            <a:spAutoFit/>
          </a:bodyPr>
          <a:lstStyle/>
          <a:p>
            <a:pPr algn="l">
              <a:lnSpc>
                <a:spcPct val="115000"/>
              </a:lnSpc>
            </a:pPr>
            <a:r>
              <a:rPr sz="1000" b="0" i="0">
                <a:solidFill>
                  <a:srgbClr val="CFC8BB"/>
                </a:solidFill>
                <a:latin typeface="Verdana"/>
              </a:rPr>
              <a:t>Concept demo  ·  all people and data are fictional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Rounded Rectangle 1"/>
          <p:cNvSpPr/>
          <p:nvPr/>
        </p:nvSpPr>
        <p:spPr>
          <a:xfrm>
            <a:off x="548640" y="274320"/>
            <a:ext cx="1417320"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FFFDF7"/>
                </a:solidFill>
                <a:latin typeface="Verdana"/>
              </a:rPr>
              <a:t>1  Problem</a:t>
            </a:r>
          </a:p>
        </p:txBody>
      </p:sp>
      <p:sp>
        <p:nvSpPr>
          <p:cNvPr id="3" name="Rounded Rectangle 2"/>
          <p:cNvSpPr/>
          <p:nvPr/>
        </p:nvSpPr>
        <p:spPr>
          <a:xfrm>
            <a:off x="2075688"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2  Proactive</a:t>
            </a:r>
          </a:p>
        </p:txBody>
      </p:sp>
      <p:sp>
        <p:nvSpPr>
          <p:cNvPr id="4" name="Rounded Rectangle 3"/>
          <p:cNvSpPr/>
          <p:nvPr/>
        </p:nvSpPr>
        <p:spPr>
          <a:xfrm>
            <a:off x="3602736" y="274320"/>
            <a:ext cx="178308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3  Gipfelstempel</a:t>
            </a:r>
          </a:p>
        </p:txBody>
      </p:sp>
      <p:sp>
        <p:nvSpPr>
          <p:cNvPr id="5" name="Rounded Rectangle 4"/>
          <p:cNvSpPr/>
          <p:nvPr/>
        </p:nvSpPr>
        <p:spPr>
          <a:xfrm>
            <a:off x="5495544"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4  Demo</a:t>
            </a:r>
          </a:p>
        </p:txBody>
      </p:sp>
      <p:sp>
        <p:nvSpPr>
          <p:cNvPr id="6" name="Rounded Rectangle 5"/>
          <p:cNvSpPr/>
          <p:nvPr/>
        </p:nvSpPr>
        <p:spPr>
          <a:xfrm>
            <a:off x="7022592"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5  Impact</a:t>
            </a:r>
          </a:p>
        </p:txBody>
      </p:sp>
      <p:sp>
        <p:nvSpPr>
          <p:cNvPr id="7" name="TextBox 6"/>
          <p:cNvSpPr txBox="1"/>
          <p:nvPr/>
        </p:nvSpPr>
        <p:spPr>
          <a:xfrm>
            <a:off x="548640" y="822960"/>
            <a:ext cx="11064240" cy="914400"/>
          </a:xfrm>
          <a:prstGeom prst="rect">
            <a:avLst/>
          </a:prstGeom>
          <a:noFill/>
        </p:spPr>
        <p:txBody>
          <a:bodyPr wrap="square" anchor="t" lIns="0" rIns="0" tIns="0" bIns="0">
            <a:spAutoFit/>
          </a:bodyPr>
          <a:lstStyle/>
          <a:p>
            <a:pPr algn="l">
              <a:lnSpc>
                <a:spcPct val="100000"/>
              </a:lnSpc>
            </a:pPr>
            <a:r>
              <a:rPr sz="3200" b="1" i="0">
                <a:solidFill>
                  <a:srgbClr val="1F2333"/>
                </a:solidFill>
                <a:latin typeface="Georgia"/>
              </a:rPr>
              <a:t>Errands are zach, so we put them off</a:t>
            </a:r>
          </a:p>
        </p:txBody>
      </p:sp>
      <p:sp>
        <p:nvSpPr>
          <p:cNvPr id="8" name="Rectangle 7"/>
          <p:cNvSpPr/>
          <p:nvPr/>
        </p:nvSpPr>
        <p:spPr>
          <a:xfrm>
            <a:off x="548640" y="1783080"/>
            <a:ext cx="10058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00800"/>
            <a:ext cx="9144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2</a:t>
            </a:r>
          </a:p>
        </p:txBody>
      </p:sp>
      <p:sp>
        <p:nvSpPr>
          <p:cNvPr id="10" name="TextBox 9"/>
          <p:cNvSpPr txBox="1"/>
          <p:nvPr/>
        </p:nvSpPr>
        <p:spPr>
          <a:xfrm>
            <a:off x="7040880" y="6400800"/>
            <a:ext cx="4572000" cy="274320"/>
          </a:xfrm>
          <a:prstGeom prst="rect">
            <a:avLst/>
          </a:prstGeom>
          <a:noFill/>
        </p:spPr>
        <p:txBody>
          <a:bodyPr wrap="square" anchor="t" lIns="0" rIns="0" tIns="0" bIns="0">
            <a:spAutoFit/>
          </a:bodyPr>
          <a:lstStyle/>
          <a:p>
            <a:pPr algn="r">
              <a:lnSpc>
                <a:spcPct val="115000"/>
              </a:lnSpc>
            </a:pPr>
            <a:r>
              <a:rPr sz="1000" b="0" i="0">
                <a:solidFill>
                  <a:srgbClr val="6B5E4A"/>
                </a:solidFill>
                <a:latin typeface="Verdana"/>
              </a:rPr>
              <a:t>Laufzettel  ·  oesterreich.gv.at 2030</a:t>
            </a:r>
          </a:p>
        </p:txBody>
      </p:sp>
      <p:sp>
        <p:nvSpPr>
          <p:cNvPr id="11" name="Rounded Rectangle 10"/>
          <p:cNvSpPr/>
          <p:nvPr/>
        </p:nvSpPr>
        <p:spPr>
          <a:xfrm>
            <a:off x="548640" y="2194560"/>
            <a:ext cx="2651760" cy="269748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22960" y="2423160"/>
            <a:ext cx="603504" cy="60350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alendar-w.png"/>
          <p:cNvPicPr>
            <a:picLocks noChangeAspect="1"/>
          </p:cNvPicPr>
          <p:nvPr/>
        </p:nvPicPr>
        <p:blipFill>
          <a:blip r:embed="rId2"/>
          <a:stretch>
            <a:fillRect/>
          </a:stretch>
        </p:blipFill>
        <p:spPr>
          <a:xfrm>
            <a:off x="967800" y="2568000"/>
            <a:ext cx="313824" cy="313824"/>
          </a:xfrm>
          <a:prstGeom prst="rect">
            <a:avLst/>
          </a:prstGeom>
        </p:spPr>
      </p:pic>
      <p:sp>
        <p:nvSpPr>
          <p:cNvPr id="14" name="TextBox 13"/>
          <p:cNvSpPr txBox="1"/>
          <p:nvPr/>
        </p:nvSpPr>
        <p:spPr>
          <a:xfrm>
            <a:off x="822960" y="3182112"/>
            <a:ext cx="2194560" cy="640080"/>
          </a:xfrm>
          <a:prstGeom prst="rect">
            <a:avLst/>
          </a:prstGeom>
          <a:noFill/>
        </p:spPr>
        <p:txBody>
          <a:bodyPr wrap="square" anchor="t" lIns="0" rIns="0" tIns="0" bIns="0">
            <a:spAutoFit/>
          </a:bodyPr>
          <a:lstStyle/>
          <a:p>
            <a:pPr algn="l">
              <a:lnSpc>
                <a:spcPct val="115000"/>
              </a:lnSpc>
            </a:pPr>
            <a:r>
              <a:rPr sz="3200" b="1" i="0">
                <a:solidFill>
                  <a:srgbClr val="C8102E"/>
                </a:solidFill>
                <a:latin typeface="Georgia"/>
              </a:rPr>
              <a:t>3 days</a:t>
            </a:r>
          </a:p>
        </p:txBody>
      </p:sp>
      <p:sp>
        <p:nvSpPr>
          <p:cNvPr id="15" name="TextBox 14"/>
          <p:cNvSpPr txBox="1"/>
          <p:nvPr/>
        </p:nvSpPr>
        <p:spPr>
          <a:xfrm>
            <a:off x="822960" y="3840480"/>
            <a:ext cx="2103120" cy="100584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to register after moving in. That is the law.</a:t>
            </a:r>
          </a:p>
        </p:txBody>
      </p:sp>
      <p:sp>
        <p:nvSpPr>
          <p:cNvPr id="16" name="Rounded Rectangle 15"/>
          <p:cNvSpPr/>
          <p:nvPr/>
        </p:nvSpPr>
        <p:spPr>
          <a:xfrm>
            <a:off x="3355848" y="2194560"/>
            <a:ext cx="2651760" cy="269748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630168" y="2423160"/>
            <a:ext cx="603504" cy="603504"/>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orm-w.png"/>
          <p:cNvPicPr>
            <a:picLocks noChangeAspect="1"/>
          </p:cNvPicPr>
          <p:nvPr/>
        </p:nvPicPr>
        <p:blipFill>
          <a:blip r:embed="rId3"/>
          <a:stretch>
            <a:fillRect/>
          </a:stretch>
        </p:blipFill>
        <p:spPr>
          <a:xfrm>
            <a:off x="3775008" y="2568000"/>
            <a:ext cx="313824" cy="313824"/>
          </a:xfrm>
          <a:prstGeom prst="rect">
            <a:avLst/>
          </a:prstGeom>
        </p:spPr>
      </p:pic>
      <p:sp>
        <p:nvSpPr>
          <p:cNvPr id="19" name="TextBox 18"/>
          <p:cNvSpPr txBox="1"/>
          <p:nvPr/>
        </p:nvSpPr>
        <p:spPr>
          <a:xfrm>
            <a:off x="3630168" y="3182112"/>
            <a:ext cx="2194560" cy="640080"/>
          </a:xfrm>
          <a:prstGeom prst="rect">
            <a:avLst/>
          </a:prstGeom>
          <a:noFill/>
        </p:spPr>
        <p:txBody>
          <a:bodyPr wrap="square" anchor="t" lIns="0" rIns="0" tIns="0" bIns="0">
            <a:spAutoFit/>
          </a:bodyPr>
          <a:lstStyle/>
          <a:p>
            <a:pPr algn="l">
              <a:lnSpc>
                <a:spcPct val="115000"/>
              </a:lnSpc>
            </a:pPr>
            <a:r>
              <a:rPr sz="3200" b="1" i="0">
                <a:solidFill>
                  <a:srgbClr val="2C4AA6"/>
                </a:solidFill>
                <a:latin typeface="Georgia"/>
              </a:rPr>
              <a:t>6 of 9</a:t>
            </a:r>
          </a:p>
        </p:txBody>
      </p:sp>
      <p:sp>
        <p:nvSpPr>
          <p:cNvPr id="20" name="TextBox 19"/>
          <p:cNvSpPr txBox="1"/>
          <p:nvPr/>
        </p:nvSpPr>
        <p:spPr>
          <a:xfrm>
            <a:off x="3630168" y="3840480"/>
            <a:ext cx="2103120" cy="100584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rows on the Meldezettel the state already knows</a:t>
            </a:r>
          </a:p>
        </p:txBody>
      </p:sp>
      <p:sp>
        <p:nvSpPr>
          <p:cNvPr id="21" name="Rounded Rectangle 20"/>
          <p:cNvSpPr/>
          <p:nvPr/>
        </p:nvSpPr>
        <p:spPr>
          <a:xfrm>
            <a:off x="6163056" y="2194560"/>
            <a:ext cx="2651760" cy="269748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37376" y="2423160"/>
            <a:ext cx="603504" cy="603504"/>
          </a:xfrm>
          <a:prstGeom prst="ellipse">
            <a:avLst/>
          </a:prstGeom>
          <a:solidFill>
            <a:srgbClr val="1F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ail-w.png"/>
          <p:cNvPicPr>
            <a:picLocks noChangeAspect="1"/>
          </p:cNvPicPr>
          <p:nvPr/>
        </p:nvPicPr>
        <p:blipFill>
          <a:blip r:embed="rId4"/>
          <a:stretch>
            <a:fillRect/>
          </a:stretch>
        </p:blipFill>
        <p:spPr>
          <a:xfrm>
            <a:off x="6582216" y="2568000"/>
            <a:ext cx="313824" cy="313824"/>
          </a:xfrm>
          <a:prstGeom prst="rect">
            <a:avLst/>
          </a:prstGeom>
        </p:spPr>
      </p:pic>
      <p:sp>
        <p:nvSpPr>
          <p:cNvPr id="24" name="TextBox 23"/>
          <p:cNvSpPr txBox="1"/>
          <p:nvPr/>
        </p:nvSpPr>
        <p:spPr>
          <a:xfrm>
            <a:off x="6437376" y="3182112"/>
            <a:ext cx="2194560" cy="640080"/>
          </a:xfrm>
          <a:prstGeom prst="rect">
            <a:avLst/>
          </a:prstGeom>
          <a:noFill/>
        </p:spPr>
        <p:txBody>
          <a:bodyPr wrap="square" anchor="t" lIns="0" rIns="0" tIns="0" bIns="0">
            <a:spAutoFit/>
          </a:bodyPr>
          <a:lstStyle/>
          <a:p>
            <a:pPr algn="l">
              <a:lnSpc>
                <a:spcPct val="115000"/>
              </a:lnSpc>
            </a:pPr>
            <a:r>
              <a:rPr sz="3200" b="1" i="0">
                <a:solidFill>
                  <a:srgbClr val="1F2333"/>
                </a:solidFill>
                <a:latin typeface="Georgia"/>
              </a:rPr>
              <a:t>1 letter</a:t>
            </a:r>
          </a:p>
        </p:txBody>
      </p:sp>
      <p:sp>
        <p:nvSpPr>
          <p:cNvPr id="25" name="TextBox 24"/>
          <p:cNvSpPr txBox="1"/>
          <p:nvPr/>
        </p:nvSpPr>
        <p:spPr>
          <a:xfrm>
            <a:off x="6437376" y="3840480"/>
            <a:ext cx="2103120" cy="100584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in Amtsdeutsch: a parking fine nobody explains</a:t>
            </a:r>
          </a:p>
        </p:txBody>
      </p:sp>
      <p:sp>
        <p:nvSpPr>
          <p:cNvPr id="26" name="Rounded Rectangle 25"/>
          <p:cNvSpPr/>
          <p:nvPr/>
        </p:nvSpPr>
        <p:spPr>
          <a:xfrm>
            <a:off x="8970264" y="2194560"/>
            <a:ext cx="2651760" cy="269748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244584" y="2423160"/>
            <a:ext cx="603504" cy="603504"/>
          </a:xfrm>
          <a:prstGeom prst="ellipse">
            <a:avLst/>
          </a:prstGeom>
          <a:solidFill>
            <a:srgbClr val="1F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lock-w.png"/>
          <p:cNvPicPr>
            <a:picLocks noChangeAspect="1"/>
          </p:cNvPicPr>
          <p:nvPr/>
        </p:nvPicPr>
        <p:blipFill>
          <a:blip r:embed="rId5"/>
          <a:stretch>
            <a:fillRect/>
          </a:stretch>
        </p:blipFill>
        <p:spPr>
          <a:xfrm>
            <a:off x="9389424" y="2568000"/>
            <a:ext cx="313824" cy="313824"/>
          </a:xfrm>
          <a:prstGeom prst="rect">
            <a:avLst/>
          </a:prstGeom>
        </p:spPr>
      </p:pic>
      <p:sp>
        <p:nvSpPr>
          <p:cNvPr id="29" name="TextBox 28"/>
          <p:cNvSpPr txBox="1"/>
          <p:nvPr/>
        </p:nvSpPr>
        <p:spPr>
          <a:xfrm>
            <a:off x="9244584" y="3182112"/>
            <a:ext cx="2194560" cy="640080"/>
          </a:xfrm>
          <a:prstGeom prst="rect">
            <a:avLst/>
          </a:prstGeom>
          <a:noFill/>
        </p:spPr>
        <p:txBody>
          <a:bodyPr wrap="square" anchor="t" lIns="0" rIns="0" tIns="0" bIns="0">
            <a:spAutoFit/>
          </a:bodyPr>
          <a:lstStyle/>
          <a:p>
            <a:pPr algn="l">
              <a:lnSpc>
                <a:spcPct val="115000"/>
              </a:lnSpc>
            </a:pPr>
            <a:r>
              <a:rPr sz="3200" b="1" i="0">
                <a:solidFill>
                  <a:srgbClr val="1F2333"/>
                </a:solidFill>
                <a:latin typeface="Georgia"/>
              </a:rPr>
              <a:t>≈ 45 min</a:t>
            </a:r>
          </a:p>
        </p:txBody>
      </p:sp>
      <p:sp>
        <p:nvSpPr>
          <p:cNvPr id="30" name="TextBox 29"/>
          <p:cNvSpPr txBox="1"/>
          <p:nvPr/>
        </p:nvSpPr>
        <p:spPr>
          <a:xfrm>
            <a:off x="9244584" y="3840480"/>
            <a:ext cx="2103120" cy="100584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on the way and at the counter, per errand (estimate)</a:t>
            </a:r>
          </a:p>
        </p:txBody>
      </p:sp>
      <p:sp>
        <p:nvSpPr>
          <p:cNvPr id="31" name="TextBox 30"/>
          <p:cNvSpPr txBox="1"/>
          <p:nvPr/>
        </p:nvSpPr>
        <p:spPr>
          <a:xfrm>
            <a:off x="548640" y="5212080"/>
            <a:ext cx="11064240" cy="822960"/>
          </a:xfrm>
          <a:prstGeom prst="rect">
            <a:avLst/>
          </a:prstGeom>
          <a:noFill/>
        </p:spPr>
        <p:txBody>
          <a:bodyPr wrap="square" anchor="t" lIns="0" rIns="0" tIns="0" bIns="0">
            <a:spAutoFit/>
          </a:bodyPr>
          <a:lstStyle/>
          <a:p>
            <a:pPr algn="l">
              <a:lnSpc>
                <a:spcPct val="115000"/>
              </a:lnSpc>
            </a:pPr>
            <a:r>
              <a:rPr sz="2400" b="0" i="1">
                <a:solidFill>
                  <a:srgbClr val="1F2333"/>
                </a:solidFill>
                <a:latin typeface="Georgia"/>
              </a:rPr>
              <a:t>Government today is reactive: it waits for you. </a:t>
            </a:r>
            <a:r>
              <a:rPr sz="2400" b="0" i="1">
                <a:solidFill>
                  <a:srgbClr val="C8102E"/>
                </a:solidFill>
                <a:latin typeface="Georgia"/>
              </a:rPr>
              <a:t>And you wait in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Rounded Rectangle 1"/>
          <p:cNvSpPr/>
          <p:nvPr/>
        </p:nvSpPr>
        <p:spPr>
          <a:xfrm>
            <a:off x="548640"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1  Problem</a:t>
            </a:r>
          </a:p>
        </p:txBody>
      </p:sp>
      <p:sp>
        <p:nvSpPr>
          <p:cNvPr id="3" name="Rounded Rectangle 2"/>
          <p:cNvSpPr/>
          <p:nvPr/>
        </p:nvSpPr>
        <p:spPr>
          <a:xfrm>
            <a:off x="2075688" y="274320"/>
            <a:ext cx="1417320"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FFFDF7"/>
                </a:solidFill>
                <a:latin typeface="Verdana"/>
              </a:rPr>
              <a:t>2  Proactive</a:t>
            </a:r>
          </a:p>
        </p:txBody>
      </p:sp>
      <p:sp>
        <p:nvSpPr>
          <p:cNvPr id="4" name="Rounded Rectangle 3"/>
          <p:cNvSpPr/>
          <p:nvPr/>
        </p:nvSpPr>
        <p:spPr>
          <a:xfrm>
            <a:off x="3602736" y="274320"/>
            <a:ext cx="178308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3  Gipfelstempel</a:t>
            </a:r>
          </a:p>
        </p:txBody>
      </p:sp>
      <p:sp>
        <p:nvSpPr>
          <p:cNvPr id="5" name="Rounded Rectangle 4"/>
          <p:cNvSpPr/>
          <p:nvPr/>
        </p:nvSpPr>
        <p:spPr>
          <a:xfrm>
            <a:off x="5495544"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4  Demo</a:t>
            </a:r>
          </a:p>
        </p:txBody>
      </p:sp>
      <p:sp>
        <p:nvSpPr>
          <p:cNvPr id="6" name="Rounded Rectangle 5"/>
          <p:cNvSpPr/>
          <p:nvPr/>
        </p:nvSpPr>
        <p:spPr>
          <a:xfrm>
            <a:off x="7022592"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5  Impact</a:t>
            </a:r>
          </a:p>
        </p:txBody>
      </p:sp>
      <p:sp>
        <p:nvSpPr>
          <p:cNvPr id="7" name="TextBox 6"/>
          <p:cNvSpPr txBox="1"/>
          <p:nvPr/>
        </p:nvSpPr>
        <p:spPr>
          <a:xfrm>
            <a:off x="548640" y="822960"/>
            <a:ext cx="11064240" cy="914400"/>
          </a:xfrm>
          <a:prstGeom prst="rect">
            <a:avLst/>
          </a:prstGeom>
          <a:noFill/>
        </p:spPr>
        <p:txBody>
          <a:bodyPr wrap="square" anchor="t" lIns="0" rIns="0" tIns="0" bIns="0">
            <a:spAutoFit/>
          </a:bodyPr>
          <a:lstStyle/>
          <a:p>
            <a:pPr algn="l">
              <a:lnSpc>
                <a:spcPct val="100000"/>
              </a:lnSpc>
            </a:pPr>
            <a:r>
              <a:rPr sz="3200" b="1" i="0">
                <a:solidFill>
                  <a:srgbClr val="1F2333"/>
                </a:solidFill>
                <a:latin typeface="Georgia"/>
              </a:rPr>
              <a:t>From reactive to proactive: the state comes to you</a:t>
            </a:r>
          </a:p>
        </p:txBody>
      </p:sp>
      <p:sp>
        <p:nvSpPr>
          <p:cNvPr id="8" name="Rectangle 7"/>
          <p:cNvSpPr/>
          <p:nvPr/>
        </p:nvSpPr>
        <p:spPr>
          <a:xfrm>
            <a:off x="548640" y="1783080"/>
            <a:ext cx="10058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00800"/>
            <a:ext cx="9144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3</a:t>
            </a:r>
          </a:p>
        </p:txBody>
      </p:sp>
      <p:sp>
        <p:nvSpPr>
          <p:cNvPr id="10" name="TextBox 9"/>
          <p:cNvSpPr txBox="1"/>
          <p:nvPr/>
        </p:nvSpPr>
        <p:spPr>
          <a:xfrm>
            <a:off x="7040880" y="6400800"/>
            <a:ext cx="4572000" cy="274320"/>
          </a:xfrm>
          <a:prstGeom prst="rect">
            <a:avLst/>
          </a:prstGeom>
          <a:noFill/>
        </p:spPr>
        <p:txBody>
          <a:bodyPr wrap="square" anchor="t" lIns="0" rIns="0" tIns="0" bIns="0">
            <a:spAutoFit/>
          </a:bodyPr>
          <a:lstStyle/>
          <a:p>
            <a:pPr algn="r">
              <a:lnSpc>
                <a:spcPct val="115000"/>
              </a:lnSpc>
            </a:pPr>
            <a:r>
              <a:rPr sz="1000" b="0" i="0">
                <a:solidFill>
                  <a:srgbClr val="6B5E4A"/>
                </a:solidFill>
                <a:latin typeface="Verdana"/>
              </a:rPr>
              <a:t>Laufzettel  ·  oesterreich.gv.at 2030</a:t>
            </a:r>
          </a:p>
        </p:txBody>
      </p:sp>
      <p:sp>
        <p:nvSpPr>
          <p:cNvPr id="11" name="Rounded Rectangle 10"/>
          <p:cNvSpPr/>
          <p:nvPr/>
        </p:nvSpPr>
        <p:spPr>
          <a:xfrm>
            <a:off x="548640" y="2194560"/>
            <a:ext cx="5120640" cy="3931920"/>
          </a:xfrm>
          <a:prstGeom prst="roundRect">
            <a:avLst>
              <a:gd name="adj" fmla="val 8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423160"/>
            <a:ext cx="4480560" cy="548640"/>
          </a:xfrm>
          <a:prstGeom prst="rect">
            <a:avLst/>
          </a:prstGeom>
          <a:noFill/>
        </p:spPr>
        <p:txBody>
          <a:bodyPr wrap="square" anchor="t" lIns="0" rIns="0" tIns="0" bIns="0">
            <a:spAutoFit/>
          </a:bodyPr>
          <a:lstStyle/>
          <a:p>
            <a:pPr algn="l">
              <a:lnSpc>
                <a:spcPct val="115000"/>
              </a:lnSpc>
            </a:pPr>
            <a:r>
              <a:rPr sz="2400" b="1" i="0">
                <a:solidFill>
                  <a:srgbClr val="1F2333"/>
                </a:solidFill>
                <a:latin typeface="Georgia"/>
              </a:rPr>
              <a:t>Today: reactive</a:t>
            </a:r>
          </a:p>
        </p:txBody>
      </p:sp>
      <p:pic>
        <p:nvPicPr>
          <p:cNvPr id="13" name="Picture 12" descr="eye-i.png"/>
          <p:cNvPicPr>
            <a:picLocks noChangeAspect="1"/>
          </p:cNvPicPr>
          <p:nvPr/>
        </p:nvPicPr>
        <p:blipFill>
          <a:blip r:embed="rId2"/>
          <a:stretch>
            <a:fillRect/>
          </a:stretch>
        </p:blipFill>
        <p:spPr>
          <a:xfrm>
            <a:off x="960120" y="3154680"/>
            <a:ext cx="347472" cy="347472"/>
          </a:xfrm>
          <a:prstGeom prst="rect">
            <a:avLst/>
          </a:prstGeom>
        </p:spPr>
      </p:pic>
      <p:sp>
        <p:nvSpPr>
          <p:cNvPr id="14" name="TextBox 13"/>
          <p:cNvSpPr txBox="1"/>
          <p:nvPr/>
        </p:nvSpPr>
        <p:spPr>
          <a:xfrm>
            <a:off x="1508760" y="3172968"/>
            <a:ext cx="3931920" cy="548640"/>
          </a:xfrm>
          <a:prstGeom prst="rect">
            <a:avLst/>
          </a:prstGeom>
          <a:noFill/>
        </p:spPr>
        <p:txBody>
          <a:bodyPr wrap="square" anchor="t" lIns="0" rIns="0" tIns="0" bIns="0">
            <a:spAutoFit/>
          </a:bodyPr>
          <a:lstStyle/>
          <a:p>
            <a:pPr algn="l">
              <a:lnSpc>
                <a:spcPct val="115000"/>
              </a:lnSpc>
            </a:pPr>
            <a:r>
              <a:rPr sz="1500" b="0" i="0">
                <a:solidFill>
                  <a:srgbClr val="4A4540"/>
                </a:solidFill>
                <a:latin typeface="Verdana"/>
              </a:rPr>
              <a:t>You notice the errand</a:t>
            </a:r>
          </a:p>
        </p:txBody>
      </p:sp>
      <p:pic>
        <p:nvPicPr>
          <p:cNvPr id="15" name="Picture 14" descr="search-i.png"/>
          <p:cNvPicPr>
            <a:picLocks noChangeAspect="1"/>
          </p:cNvPicPr>
          <p:nvPr/>
        </p:nvPicPr>
        <p:blipFill>
          <a:blip r:embed="rId3"/>
          <a:stretch>
            <a:fillRect/>
          </a:stretch>
        </p:blipFill>
        <p:spPr>
          <a:xfrm>
            <a:off x="960120" y="3867912"/>
            <a:ext cx="347472" cy="347472"/>
          </a:xfrm>
          <a:prstGeom prst="rect">
            <a:avLst/>
          </a:prstGeom>
        </p:spPr>
      </p:pic>
      <p:sp>
        <p:nvSpPr>
          <p:cNvPr id="16" name="TextBox 15"/>
          <p:cNvSpPr txBox="1"/>
          <p:nvPr/>
        </p:nvSpPr>
        <p:spPr>
          <a:xfrm>
            <a:off x="1508760" y="3886200"/>
            <a:ext cx="3931920" cy="548640"/>
          </a:xfrm>
          <a:prstGeom prst="rect">
            <a:avLst/>
          </a:prstGeom>
          <a:noFill/>
        </p:spPr>
        <p:txBody>
          <a:bodyPr wrap="square" anchor="t" lIns="0" rIns="0" tIns="0" bIns="0">
            <a:spAutoFit/>
          </a:bodyPr>
          <a:lstStyle/>
          <a:p>
            <a:pPr algn="l">
              <a:lnSpc>
                <a:spcPct val="115000"/>
              </a:lnSpc>
            </a:pPr>
            <a:r>
              <a:rPr sz="1500" b="0" i="0">
                <a:solidFill>
                  <a:srgbClr val="4A4540"/>
                </a:solidFill>
                <a:latin typeface="Verdana"/>
              </a:rPr>
              <a:t>You search the right form</a:t>
            </a:r>
          </a:p>
        </p:txBody>
      </p:sp>
      <p:pic>
        <p:nvPicPr>
          <p:cNvPr id="17" name="Picture 16" descr="keyboard-i.png"/>
          <p:cNvPicPr>
            <a:picLocks noChangeAspect="1"/>
          </p:cNvPicPr>
          <p:nvPr/>
        </p:nvPicPr>
        <p:blipFill>
          <a:blip r:embed="rId4"/>
          <a:stretch>
            <a:fillRect/>
          </a:stretch>
        </p:blipFill>
        <p:spPr>
          <a:xfrm>
            <a:off x="960120" y="4581144"/>
            <a:ext cx="347472" cy="347472"/>
          </a:xfrm>
          <a:prstGeom prst="rect">
            <a:avLst/>
          </a:prstGeom>
        </p:spPr>
      </p:pic>
      <p:sp>
        <p:nvSpPr>
          <p:cNvPr id="18" name="TextBox 17"/>
          <p:cNvSpPr txBox="1"/>
          <p:nvPr/>
        </p:nvSpPr>
        <p:spPr>
          <a:xfrm>
            <a:off x="1508760" y="4599432"/>
            <a:ext cx="3931920" cy="548640"/>
          </a:xfrm>
          <a:prstGeom prst="rect">
            <a:avLst/>
          </a:prstGeom>
          <a:noFill/>
        </p:spPr>
        <p:txBody>
          <a:bodyPr wrap="square" anchor="t" lIns="0" rIns="0" tIns="0" bIns="0">
            <a:spAutoFit/>
          </a:bodyPr>
          <a:lstStyle/>
          <a:p>
            <a:pPr algn="l">
              <a:lnSpc>
                <a:spcPct val="115000"/>
              </a:lnSpc>
            </a:pPr>
            <a:r>
              <a:rPr sz="1500" b="0" i="0">
                <a:solidFill>
                  <a:srgbClr val="4A4540"/>
                </a:solidFill>
                <a:latin typeface="Verdana"/>
              </a:rPr>
              <a:t>You type what the state knows</a:t>
            </a:r>
          </a:p>
        </p:txBody>
      </p:sp>
      <p:pic>
        <p:nvPicPr>
          <p:cNvPr id="19" name="Picture 18" descr="queue-i.png"/>
          <p:cNvPicPr>
            <a:picLocks noChangeAspect="1"/>
          </p:cNvPicPr>
          <p:nvPr/>
        </p:nvPicPr>
        <p:blipFill>
          <a:blip r:embed="rId5"/>
          <a:stretch>
            <a:fillRect/>
          </a:stretch>
        </p:blipFill>
        <p:spPr>
          <a:xfrm>
            <a:off x="960120" y="5294376"/>
            <a:ext cx="347472" cy="347472"/>
          </a:xfrm>
          <a:prstGeom prst="rect">
            <a:avLst/>
          </a:prstGeom>
        </p:spPr>
      </p:pic>
      <p:sp>
        <p:nvSpPr>
          <p:cNvPr id="20" name="TextBox 19"/>
          <p:cNvSpPr txBox="1"/>
          <p:nvPr/>
        </p:nvSpPr>
        <p:spPr>
          <a:xfrm>
            <a:off x="1508760" y="5312664"/>
            <a:ext cx="3931920" cy="548640"/>
          </a:xfrm>
          <a:prstGeom prst="rect">
            <a:avLst/>
          </a:prstGeom>
          <a:noFill/>
        </p:spPr>
        <p:txBody>
          <a:bodyPr wrap="square" anchor="t" lIns="0" rIns="0" tIns="0" bIns="0">
            <a:spAutoFit/>
          </a:bodyPr>
          <a:lstStyle/>
          <a:p>
            <a:pPr algn="l">
              <a:lnSpc>
                <a:spcPct val="115000"/>
              </a:lnSpc>
            </a:pPr>
            <a:r>
              <a:rPr sz="1500" b="0" i="0">
                <a:solidFill>
                  <a:srgbClr val="4A4540"/>
                </a:solidFill>
                <a:latin typeface="Verdana"/>
              </a:rPr>
              <a:t>You queue at the counter</a:t>
            </a:r>
          </a:p>
        </p:txBody>
      </p:sp>
      <p:sp>
        <p:nvSpPr>
          <p:cNvPr id="21" name="Rounded Rectangle 20"/>
          <p:cNvSpPr/>
          <p:nvPr/>
        </p:nvSpPr>
        <p:spPr>
          <a:xfrm>
            <a:off x="6492240" y="2194560"/>
            <a:ext cx="5120640" cy="393192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0" y="2423160"/>
            <a:ext cx="4480560" cy="548640"/>
          </a:xfrm>
          <a:prstGeom prst="rect">
            <a:avLst/>
          </a:prstGeom>
          <a:noFill/>
        </p:spPr>
        <p:txBody>
          <a:bodyPr wrap="square" anchor="t" lIns="0" rIns="0" tIns="0" bIns="0">
            <a:spAutoFit/>
          </a:bodyPr>
          <a:lstStyle/>
          <a:p>
            <a:pPr algn="l">
              <a:lnSpc>
                <a:spcPct val="115000"/>
              </a:lnSpc>
            </a:pPr>
            <a:r>
              <a:rPr sz="2400" b="1" i="0">
                <a:solidFill>
                  <a:srgbClr val="C8102E"/>
                </a:solidFill>
                <a:latin typeface="Georgia"/>
              </a:rPr>
              <a:t>2030: proactive</a:t>
            </a:r>
          </a:p>
        </p:txBody>
      </p:sp>
      <p:sp>
        <p:nvSpPr>
          <p:cNvPr id="23" name="Oval 22"/>
          <p:cNvSpPr/>
          <p:nvPr/>
        </p:nvSpPr>
        <p:spPr>
          <a:xfrm>
            <a:off x="6858000" y="3118104"/>
            <a:ext cx="420624" cy="420624"/>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honecheck-w.png"/>
          <p:cNvPicPr>
            <a:picLocks noChangeAspect="1"/>
          </p:cNvPicPr>
          <p:nvPr/>
        </p:nvPicPr>
        <p:blipFill>
          <a:blip r:embed="rId6"/>
          <a:stretch>
            <a:fillRect/>
          </a:stretch>
        </p:blipFill>
        <p:spPr>
          <a:xfrm>
            <a:off x="6958949" y="3219053"/>
            <a:ext cx="218726" cy="218726"/>
          </a:xfrm>
          <a:prstGeom prst="rect">
            <a:avLst/>
          </a:prstGeom>
        </p:spPr>
      </p:pic>
      <p:sp>
        <p:nvSpPr>
          <p:cNvPr id="25" name="TextBox 24"/>
          <p:cNvSpPr txBox="1"/>
          <p:nvPr/>
        </p:nvSpPr>
        <p:spPr>
          <a:xfrm>
            <a:off x="7452360" y="3172968"/>
            <a:ext cx="3931920" cy="548640"/>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The landlord confirms the move</a:t>
            </a:r>
          </a:p>
        </p:txBody>
      </p:sp>
      <p:sp>
        <p:nvSpPr>
          <p:cNvPr id="26" name="Oval 25"/>
          <p:cNvSpPr/>
          <p:nvPr/>
        </p:nvSpPr>
        <p:spPr>
          <a:xfrm>
            <a:off x="6858000" y="3831336"/>
            <a:ext cx="420624" cy="420624"/>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ell-w.png"/>
          <p:cNvPicPr>
            <a:picLocks noChangeAspect="1"/>
          </p:cNvPicPr>
          <p:nvPr/>
        </p:nvPicPr>
        <p:blipFill>
          <a:blip r:embed="rId7"/>
          <a:stretch>
            <a:fillRect/>
          </a:stretch>
        </p:blipFill>
        <p:spPr>
          <a:xfrm>
            <a:off x="6958949" y="3932285"/>
            <a:ext cx="218726" cy="218726"/>
          </a:xfrm>
          <a:prstGeom prst="rect">
            <a:avLst/>
          </a:prstGeom>
        </p:spPr>
      </p:pic>
      <p:sp>
        <p:nvSpPr>
          <p:cNvPr id="28" name="TextBox 27"/>
          <p:cNvSpPr txBox="1"/>
          <p:nvPr/>
        </p:nvSpPr>
        <p:spPr>
          <a:xfrm>
            <a:off x="7452360" y="3886200"/>
            <a:ext cx="3931920" cy="548640"/>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A notice with the deadline lands on your desk</a:t>
            </a:r>
          </a:p>
        </p:txBody>
      </p:sp>
      <p:sp>
        <p:nvSpPr>
          <p:cNvPr id="29" name="Oval 28"/>
          <p:cNvSpPr/>
          <p:nvPr/>
        </p:nvSpPr>
        <p:spPr>
          <a:xfrm>
            <a:off x="6858000" y="4544568"/>
            <a:ext cx="420624" cy="420624"/>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stamp-w.png"/>
          <p:cNvPicPr>
            <a:picLocks noChangeAspect="1"/>
          </p:cNvPicPr>
          <p:nvPr/>
        </p:nvPicPr>
        <p:blipFill>
          <a:blip r:embed="rId8"/>
          <a:stretch>
            <a:fillRect/>
          </a:stretch>
        </p:blipFill>
        <p:spPr>
          <a:xfrm>
            <a:off x="6958949" y="4645517"/>
            <a:ext cx="218726" cy="218726"/>
          </a:xfrm>
          <a:prstGeom prst="rect">
            <a:avLst/>
          </a:prstGeom>
        </p:spPr>
      </p:pic>
      <p:sp>
        <p:nvSpPr>
          <p:cNvPr id="31" name="TextBox 30"/>
          <p:cNvSpPr txBox="1"/>
          <p:nvPr/>
        </p:nvSpPr>
        <p:spPr>
          <a:xfrm>
            <a:off x="7452360" y="4599432"/>
            <a:ext cx="3931920" cy="548640"/>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The offices fill 6 of 9 rows, live</a:t>
            </a:r>
          </a:p>
        </p:txBody>
      </p:sp>
      <p:sp>
        <p:nvSpPr>
          <p:cNvPr id="32" name="Oval 31"/>
          <p:cNvSpPr/>
          <p:nvPr/>
        </p:nvSpPr>
        <p:spPr>
          <a:xfrm>
            <a:off x="6858000" y="5257800"/>
            <a:ext cx="420624" cy="42062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check-w.png"/>
          <p:cNvPicPr>
            <a:picLocks noChangeAspect="1"/>
          </p:cNvPicPr>
          <p:nvPr/>
        </p:nvPicPr>
        <p:blipFill>
          <a:blip r:embed="rId9"/>
          <a:stretch>
            <a:fillRect/>
          </a:stretch>
        </p:blipFill>
        <p:spPr>
          <a:xfrm>
            <a:off x="6958949" y="5358749"/>
            <a:ext cx="218726" cy="218726"/>
          </a:xfrm>
          <a:prstGeom prst="rect">
            <a:avLst/>
          </a:prstGeom>
        </p:spPr>
      </p:pic>
      <p:sp>
        <p:nvSpPr>
          <p:cNvPr id="34" name="TextBox 33"/>
          <p:cNvSpPr txBox="1"/>
          <p:nvPr/>
        </p:nvSpPr>
        <p:spPr>
          <a:xfrm>
            <a:off x="7452360" y="5312664"/>
            <a:ext cx="3931920" cy="548640"/>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You answer 2 questions and sign</a:t>
            </a:r>
          </a:p>
        </p:txBody>
      </p:sp>
      <p:sp>
        <p:nvSpPr>
          <p:cNvPr id="35" name="Right Arrow 34"/>
          <p:cNvSpPr/>
          <p:nvPr/>
        </p:nvSpPr>
        <p:spPr>
          <a:xfrm>
            <a:off x="5742432" y="3977639"/>
            <a:ext cx="685800" cy="45720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Rounded Rectangle 1"/>
          <p:cNvSpPr/>
          <p:nvPr/>
        </p:nvSpPr>
        <p:spPr>
          <a:xfrm>
            <a:off x="548640"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1  Problem</a:t>
            </a:r>
          </a:p>
        </p:txBody>
      </p:sp>
      <p:sp>
        <p:nvSpPr>
          <p:cNvPr id="3" name="Rounded Rectangle 2"/>
          <p:cNvSpPr/>
          <p:nvPr/>
        </p:nvSpPr>
        <p:spPr>
          <a:xfrm>
            <a:off x="2075688"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2  Proactive</a:t>
            </a:r>
          </a:p>
        </p:txBody>
      </p:sp>
      <p:sp>
        <p:nvSpPr>
          <p:cNvPr id="4" name="Rounded Rectangle 3"/>
          <p:cNvSpPr/>
          <p:nvPr/>
        </p:nvSpPr>
        <p:spPr>
          <a:xfrm>
            <a:off x="3602736" y="274320"/>
            <a:ext cx="1783080"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FFFDF7"/>
                </a:solidFill>
                <a:latin typeface="Verdana"/>
              </a:rPr>
              <a:t>3  Gipfelstempel</a:t>
            </a:r>
          </a:p>
        </p:txBody>
      </p:sp>
      <p:sp>
        <p:nvSpPr>
          <p:cNvPr id="5" name="Rounded Rectangle 4"/>
          <p:cNvSpPr/>
          <p:nvPr/>
        </p:nvSpPr>
        <p:spPr>
          <a:xfrm>
            <a:off x="5495544"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4  Demo</a:t>
            </a:r>
          </a:p>
        </p:txBody>
      </p:sp>
      <p:sp>
        <p:nvSpPr>
          <p:cNvPr id="6" name="Rounded Rectangle 5"/>
          <p:cNvSpPr/>
          <p:nvPr/>
        </p:nvSpPr>
        <p:spPr>
          <a:xfrm>
            <a:off x="7022592"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5  Impact</a:t>
            </a:r>
          </a:p>
        </p:txBody>
      </p:sp>
      <p:sp>
        <p:nvSpPr>
          <p:cNvPr id="7" name="TextBox 6"/>
          <p:cNvSpPr txBox="1"/>
          <p:nvPr/>
        </p:nvSpPr>
        <p:spPr>
          <a:xfrm>
            <a:off x="548640" y="822960"/>
            <a:ext cx="11064240" cy="914400"/>
          </a:xfrm>
          <a:prstGeom prst="rect">
            <a:avLst/>
          </a:prstGeom>
          <a:noFill/>
        </p:spPr>
        <p:txBody>
          <a:bodyPr wrap="square" anchor="t" lIns="0" rIns="0" tIns="0" bIns="0">
            <a:spAutoFit/>
          </a:bodyPr>
          <a:lstStyle/>
          <a:p>
            <a:pPr algn="l">
              <a:lnSpc>
                <a:spcPct val="100000"/>
              </a:lnSpc>
            </a:pPr>
            <a:r>
              <a:rPr sz="3200" b="1" i="0">
                <a:solidFill>
                  <a:srgbClr val="1F2333"/>
                </a:solidFill>
                <a:latin typeface="Georgia"/>
              </a:rPr>
              <a:t>Gipfelstempel: nudging and gamification for errands</a:t>
            </a:r>
          </a:p>
        </p:txBody>
      </p:sp>
      <p:sp>
        <p:nvSpPr>
          <p:cNvPr id="8" name="Rectangle 7"/>
          <p:cNvSpPr/>
          <p:nvPr/>
        </p:nvSpPr>
        <p:spPr>
          <a:xfrm>
            <a:off x="548640" y="1783080"/>
            <a:ext cx="10058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00800"/>
            <a:ext cx="9144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4</a:t>
            </a:r>
          </a:p>
        </p:txBody>
      </p:sp>
      <p:sp>
        <p:nvSpPr>
          <p:cNvPr id="10" name="TextBox 9"/>
          <p:cNvSpPr txBox="1"/>
          <p:nvPr/>
        </p:nvSpPr>
        <p:spPr>
          <a:xfrm>
            <a:off x="7040880" y="6400800"/>
            <a:ext cx="4572000" cy="274320"/>
          </a:xfrm>
          <a:prstGeom prst="rect">
            <a:avLst/>
          </a:prstGeom>
          <a:noFill/>
        </p:spPr>
        <p:txBody>
          <a:bodyPr wrap="square" anchor="t" lIns="0" rIns="0" tIns="0" bIns="0">
            <a:spAutoFit/>
          </a:bodyPr>
          <a:lstStyle/>
          <a:p>
            <a:pPr algn="r">
              <a:lnSpc>
                <a:spcPct val="115000"/>
              </a:lnSpc>
            </a:pPr>
            <a:r>
              <a:rPr sz="1000" b="0" i="0">
                <a:solidFill>
                  <a:srgbClr val="6B5E4A"/>
                </a:solidFill>
                <a:latin typeface="Verdana"/>
              </a:rPr>
              <a:t>Laufzettel  ·  oesterreich.gv.at 2030</a:t>
            </a:r>
          </a:p>
        </p:txBody>
      </p:sp>
      <p:sp>
        <p:nvSpPr>
          <p:cNvPr id="11" name="Oval 10"/>
          <p:cNvSpPr/>
          <p:nvPr/>
        </p:nvSpPr>
        <p:spPr>
          <a:xfrm>
            <a:off x="548640" y="2194560"/>
            <a:ext cx="713232" cy="713232"/>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w.png"/>
          <p:cNvPicPr>
            <a:picLocks noChangeAspect="1"/>
          </p:cNvPicPr>
          <p:nvPr/>
        </p:nvPicPr>
        <p:blipFill>
          <a:blip r:embed="rId2"/>
          <a:stretch>
            <a:fillRect/>
          </a:stretch>
        </p:blipFill>
        <p:spPr>
          <a:xfrm>
            <a:off x="719815" y="2365735"/>
            <a:ext cx="370882" cy="370882"/>
          </a:xfrm>
          <a:prstGeom prst="rect">
            <a:avLst/>
          </a:prstGeom>
        </p:spPr>
      </p:pic>
      <p:sp>
        <p:nvSpPr>
          <p:cNvPr id="13" name="TextBox 12"/>
          <p:cNvSpPr txBox="1"/>
          <p:nvPr/>
        </p:nvSpPr>
        <p:spPr>
          <a:xfrm>
            <a:off x="1463040" y="2176272"/>
            <a:ext cx="4297680" cy="457200"/>
          </a:xfrm>
          <a:prstGeom prst="rect">
            <a:avLst/>
          </a:prstGeom>
          <a:noFill/>
        </p:spPr>
        <p:txBody>
          <a:bodyPr wrap="square" anchor="t" lIns="0" rIns="0" tIns="0" bIns="0">
            <a:spAutoFit/>
          </a:bodyPr>
          <a:lstStyle/>
          <a:p>
            <a:pPr algn="l">
              <a:lnSpc>
                <a:spcPct val="115000"/>
              </a:lnSpc>
            </a:pPr>
            <a:r>
              <a:rPr sz="2200" b="1" i="0">
                <a:solidFill>
                  <a:srgbClr val="1F2333"/>
                </a:solidFill>
                <a:latin typeface="Georgia"/>
              </a:rPr>
              <a:t>Make it visible</a:t>
            </a:r>
          </a:p>
        </p:txBody>
      </p:sp>
      <p:sp>
        <p:nvSpPr>
          <p:cNvPr id="14" name="TextBox 13"/>
          <p:cNvSpPr txBox="1"/>
          <p:nvPr/>
        </p:nvSpPr>
        <p:spPr>
          <a:xfrm>
            <a:off x="1463040" y="2633472"/>
            <a:ext cx="4297680" cy="82296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The route shows how little is left: 6 rows by the offices, 2 questions, your seal.</a:t>
            </a:r>
          </a:p>
        </p:txBody>
      </p:sp>
      <p:sp>
        <p:nvSpPr>
          <p:cNvPr id="15" name="Oval 14"/>
          <p:cNvSpPr/>
          <p:nvPr/>
        </p:nvSpPr>
        <p:spPr>
          <a:xfrm>
            <a:off x="548640" y="3493008"/>
            <a:ext cx="713232" cy="71323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mp-w.png"/>
          <p:cNvPicPr>
            <a:picLocks noChangeAspect="1"/>
          </p:cNvPicPr>
          <p:nvPr/>
        </p:nvPicPr>
        <p:blipFill>
          <a:blip r:embed="rId3"/>
          <a:stretch>
            <a:fillRect/>
          </a:stretch>
        </p:blipFill>
        <p:spPr>
          <a:xfrm>
            <a:off x="719815" y="3664183"/>
            <a:ext cx="370882" cy="370882"/>
          </a:xfrm>
          <a:prstGeom prst="rect">
            <a:avLst/>
          </a:prstGeom>
        </p:spPr>
      </p:pic>
      <p:sp>
        <p:nvSpPr>
          <p:cNvPr id="17" name="TextBox 16"/>
          <p:cNvSpPr txBox="1"/>
          <p:nvPr/>
        </p:nvSpPr>
        <p:spPr>
          <a:xfrm>
            <a:off x="1463040" y="3474720"/>
            <a:ext cx="4297680" cy="457200"/>
          </a:xfrm>
          <a:prstGeom prst="rect">
            <a:avLst/>
          </a:prstGeom>
          <a:noFill/>
        </p:spPr>
        <p:txBody>
          <a:bodyPr wrap="square" anchor="t" lIns="0" rIns="0" tIns="0" bIns="0">
            <a:spAutoFit/>
          </a:bodyPr>
          <a:lstStyle/>
          <a:p>
            <a:pPr algn="l">
              <a:lnSpc>
                <a:spcPct val="115000"/>
              </a:lnSpc>
            </a:pPr>
            <a:r>
              <a:rPr sz="2200" b="1" i="0">
                <a:solidFill>
                  <a:srgbClr val="1F2333"/>
                </a:solidFill>
                <a:latin typeface="Georgia"/>
              </a:rPr>
              <a:t>Make it fun</a:t>
            </a:r>
          </a:p>
        </p:txBody>
      </p:sp>
      <p:sp>
        <p:nvSpPr>
          <p:cNvPr id="18" name="TextBox 17"/>
          <p:cNvSpPr txBox="1"/>
          <p:nvPr/>
        </p:nvSpPr>
        <p:spPr>
          <a:xfrm>
            <a:off x="1463040" y="3931920"/>
            <a:ext cx="4297680" cy="82296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Stamps land with a soft thump. Your Gipfelstempel grows ring by ring.</a:t>
            </a:r>
          </a:p>
        </p:txBody>
      </p:sp>
      <p:sp>
        <p:nvSpPr>
          <p:cNvPr id="19" name="Oval 18"/>
          <p:cNvSpPr/>
          <p:nvPr/>
        </p:nvSpPr>
        <p:spPr>
          <a:xfrm>
            <a:off x="548640" y="4791456"/>
            <a:ext cx="713232" cy="713232"/>
          </a:xfrm>
          <a:prstGeom prst="ellipse">
            <a:avLst/>
          </a:prstGeom>
          <a:solidFill>
            <a:srgbClr val="1F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ummit-w.png"/>
          <p:cNvPicPr>
            <a:picLocks noChangeAspect="1"/>
          </p:cNvPicPr>
          <p:nvPr/>
        </p:nvPicPr>
        <p:blipFill>
          <a:blip r:embed="rId4"/>
          <a:stretch>
            <a:fillRect/>
          </a:stretch>
        </p:blipFill>
        <p:spPr>
          <a:xfrm>
            <a:off x="719815" y="4962631"/>
            <a:ext cx="370882" cy="370882"/>
          </a:xfrm>
          <a:prstGeom prst="rect">
            <a:avLst/>
          </a:prstGeom>
        </p:spPr>
      </p:pic>
      <p:sp>
        <p:nvSpPr>
          <p:cNvPr id="21" name="TextBox 20"/>
          <p:cNvSpPr txBox="1"/>
          <p:nvPr/>
        </p:nvSpPr>
        <p:spPr>
          <a:xfrm>
            <a:off x="1463040" y="4773168"/>
            <a:ext cx="4297680" cy="457200"/>
          </a:xfrm>
          <a:prstGeom prst="rect">
            <a:avLst/>
          </a:prstGeom>
          <a:noFill/>
        </p:spPr>
        <p:txBody>
          <a:bodyPr wrap="square" anchor="t" lIns="0" rIns="0" tIns="0" bIns="0">
            <a:spAutoFit/>
          </a:bodyPr>
          <a:lstStyle/>
          <a:p>
            <a:pPr algn="l">
              <a:lnSpc>
                <a:spcPct val="115000"/>
              </a:lnSpc>
            </a:pPr>
            <a:r>
              <a:rPr sz="2200" b="1" i="0">
                <a:solidFill>
                  <a:srgbClr val="1F2333"/>
                </a:solidFill>
                <a:latin typeface="Georgia"/>
              </a:rPr>
              <a:t>Make it pay off</a:t>
            </a:r>
          </a:p>
        </p:txBody>
      </p:sp>
      <p:sp>
        <p:nvSpPr>
          <p:cNvPr id="22" name="TextBox 21"/>
          <p:cNvSpPr txBox="1"/>
          <p:nvPr/>
        </p:nvSpPr>
        <p:spPr>
          <a:xfrm>
            <a:off x="1463040" y="5230368"/>
            <a:ext cx="4297680" cy="822960"/>
          </a:xfrm>
          <a:prstGeom prst="rect">
            <a:avLst/>
          </a:prstGeom>
          <a:noFill/>
        </p:spPr>
        <p:txBody>
          <a:bodyPr wrap="square" anchor="t" lIns="0" rIns="0" tIns="0" bIns="0">
            <a:spAutoFit/>
          </a:bodyPr>
          <a:lstStyle/>
          <a:p>
            <a:pPr algn="l">
              <a:lnSpc>
                <a:spcPct val="120000"/>
              </a:lnSpc>
            </a:pPr>
            <a:r>
              <a:rPr sz="1300" b="0" i="0">
                <a:solidFill>
                  <a:srgbClr val="4A4540"/>
                </a:solidFill>
                <a:latin typeface="Verdana"/>
              </a:rPr>
              <a:t>Every errand you finish is a summit. The stamp goes into your pass, with the time you kept.</a:t>
            </a:r>
          </a:p>
        </p:txBody>
      </p:sp>
      <p:pic>
        <p:nvPicPr>
          <p:cNvPr id="23" name="Picture 22" descr="pass.jpg"/>
          <p:cNvPicPr>
            <a:picLocks noChangeAspect="1"/>
          </p:cNvPicPr>
          <p:nvPr/>
        </p:nvPicPr>
        <p:blipFill>
          <a:blip r:embed="rId5"/>
          <a:stretch>
            <a:fillRect/>
          </a:stretch>
        </p:blipFill>
        <p:spPr>
          <a:xfrm>
            <a:off x="6172200" y="2194560"/>
            <a:ext cx="5440680" cy="2146596"/>
          </a:xfrm>
          <a:prstGeom prst="rect">
            <a:avLst/>
          </a:prstGeom>
          <a:ln w="12700">
            <a:solidFill>
              <a:srgbClr val="E2D8C6"/>
            </a:solidFill>
          </a:ln>
        </p:spPr>
      </p:pic>
      <p:sp>
        <p:nvSpPr>
          <p:cNvPr id="24" name="TextBox 23"/>
          <p:cNvSpPr txBox="1"/>
          <p:nvPr/>
        </p:nvSpPr>
        <p:spPr>
          <a:xfrm>
            <a:off x="6172200" y="4434840"/>
            <a:ext cx="5440680" cy="365760"/>
          </a:xfrm>
          <a:prstGeom prst="rect">
            <a:avLst/>
          </a:prstGeom>
          <a:noFill/>
        </p:spPr>
        <p:txBody>
          <a:bodyPr wrap="square" anchor="t" lIns="0" rIns="0" tIns="0" bIns="0">
            <a:spAutoFit/>
          </a:bodyPr>
          <a:lstStyle/>
          <a:p>
            <a:pPr algn="l">
              <a:lnSpc>
                <a:spcPct val="115000"/>
              </a:lnSpc>
            </a:pPr>
            <a:r>
              <a:rPr sz="1100" b="0" i="1">
                <a:solidFill>
                  <a:srgbClr val="6B5E4A"/>
                </a:solidFill>
                <a:latin typeface="Verdana"/>
              </a:rPr>
              <a:t>The Gipfelstempel pass on Lena’s desk, after her move</a:t>
            </a:r>
          </a:p>
        </p:txBody>
      </p:sp>
      <p:sp>
        <p:nvSpPr>
          <p:cNvPr id="25" name="Rounded Rectangle 24"/>
          <p:cNvSpPr/>
          <p:nvPr/>
        </p:nvSpPr>
        <p:spPr>
          <a:xfrm>
            <a:off x="6172200" y="4937760"/>
            <a:ext cx="1077163" cy="384048"/>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b="1">
                <a:solidFill>
                  <a:srgbClr val="5E5240"/>
                </a:solidFill>
                <a:latin typeface="Verdana"/>
              </a:rPr>
              <a:t>Voluntary</a:t>
            </a:r>
          </a:p>
        </p:txBody>
      </p:sp>
      <p:sp>
        <p:nvSpPr>
          <p:cNvPr id="26" name="Rounded Rectangle 25"/>
          <p:cNvSpPr/>
          <p:nvPr/>
        </p:nvSpPr>
        <p:spPr>
          <a:xfrm>
            <a:off x="7359091" y="4937760"/>
            <a:ext cx="2009851" cy="384048"/>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b="1">
                <a:solidFill>
                  <a:srgbClr val="5E5240"/>
                </a:solidFill>
                <a:latin typeface="Verdana"/>
              </a:rPr>
              <a:t>Private, no ranking</a:t>
            </a:r>
          </a:p>
        </p:txBody>
      </p:sp>
      <p:sp>
        <p:nvSpPr>
          <p:cNvPr id="27" name="Rounded Rectangle 26"/>
          <p:cNvSpPr/>
          <p:nvPr/>
        </p:nvSpPr>
        <p:spPr>
          <a:xfrm>
            <a:off x="6172200" y="5440680"/>
            <a:ext cx="1450238" cy="384048"/>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b="1">
                <a:solidFill>
                  <a:srgbClr val="5E5240"/>
                </a:solidFill>
                <a:latin typeface="Verdana"/>
              </a:rPr>
              <a:t>Only positive</a:t>
            </a:r>
          </a:p>
        </p:txBody>
      </p:sp>
      <p:sp>
        <p:nvSpPr>
          <p:cNvPr id="28" name="Rounded Rectangle 27"/>
          <p:cNvSpPr/>
          <p:nvPr/>
        </p:nvSpPr>
        <p:spPr>
          <a:xfrm>
            <a:off x="7732166" y="5440680"/>
            <a:ext cx="2196388" cy="384048"/>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b="1">
                <a:solidFill>
                  <a:srgbClr val="5E5240"/>
                </a:solidFill>
                <a:latin typeface="Verdana"/>
              </a:rPr>
              <a:t>Official errands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Rounded Rectangle 1"/>
          <p:cNvSpPr/>
          <p:nvPr/>
        </p:nvSpPr>
        <p:spPr>
          <a:xfrm>
            <a:off x="548640"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1  Problem</a:t>
            </a:r>
          </a:p>
        </p:txBody>
      </p:sp>
      <p:sp>
        <p:nvSpPr>
          <p:cNvPr id="3" name="Rounded Rectangle 2"/>
          <p:cNvSpPr/>
          <p:nvPr/>
        </p:nvSpPr>
        <p:spPr>
          <a:xfrm>
            <a:off x="2075688"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2  Proactive</a:t>
            </a:r>
          </a:p>
        </p:txBody>
      </p:sp>
      <p:sp>
        <p:nvSpPr>
          <p:cNvPr id="4" name="Rounded Rectangle 3"/>
          <p:cNvSpPr/>
          <p:nvPr/>
        </p:nvSpPr>
        <p:spPr>
          <a:xfrm>
            <a:off x="3602736" y="274320"/>
            <a:ext cx="178308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3  Gipfelstempel</a:t>
            </a:r>
          </a:p>
        </p:txBody>
      </p:sp>
      <p:sp>
        <p:nvSpPr>
          <p:cNvPr id="5" name="Rounded Rectangle 4"/>
          <p:cNvSpPr/>
          <p:nvPr/>
        </p:nvSpPr>
        <p:spPr>
          <a:xfrm>
            <a:off x="5495544" y="274320"/>
            <a:ext cx="1417320"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FFFDF7"/>
                </a:solidFill>
                <a:latin typeface="Verdana"/>
              </a:rPr>
              <a:t>4  Demo</a:t>
            </a:r>
          </a:p>
        </p:txBody>
      </p:sp>
      <p:sp>
        <p:nvSpPr>
          <p:cNvPr id="6" name="Rounded Rectangle 5"/>
          <p:cNvSpPr/>
          <p:nvPr/>
        </p:nvSpPr>
        <p:spPr>
          <a:xfrm>
            <a:off x="7022592"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5  Impact</a:t>
            </a:r>
          </a:p>
        </p:txBody>
      </p:sp>
      <p:sp>
        <p:nvSpPr>
          <p:cNvPr id="7" name="TextBox 6"/>
          <p:cNvSpPr txBox="1"/>
          <p:nvPr/>
        </p:nvSpPr>
        <p:spPr>
          <a:xfrm>
            <a:off x="548640" y="822960"/>
            <a:ext cx="11064240" cy="914400"/>
          </a:xfrm>
          <a:prstGeom prst="rect">
            <a:avLst/>
          </a:prstGeom>
          <a:noFill/>
        </p:spPr>
        <p:txBody>
          <a:bodyPr wrap="square" anchor="t" lIns="0" rIns="0" tIns="0" bIns="0">
            <a:spAutoFit/>
          </a:bodyPr>
          <a:lstStyle/>
          <a:p>
            <a:pPr algn="l">
              <a:lnSpc>
                <a:spcPct val="100000"/>
              </a:lnSpc>
            </a:pPr>
            <a:r>
              <a:rPr sz="3200" b="1" i="0">
                <a:solidFill>
                  <a:srgbClr val="1F2333"/>
                </a:solidFill>
                <a:latin typeface="Georgia"/>
              </a:rPr>
              <a:t>Lena registers her move in two minutes</a:t>
            </a:r>
          </a:p>
        </p:txBody>
      </p:sp>
      <p:sp>
        <p:nvSpPr>
          <p:cNvPr id="8" name="Rectangle 7"/>
          <p:cNvSpPr/>
          <p:nvPr/>
        </p:nvSpPr>
        <p:spPr>
          <a:xfrm>
            <a:off x="548640" y="1783080"/>
            <a:ext cx="10058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00800"/>
            <a:ext cx="9144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5</a:t>
            </a:r>
          </a:p>
        </p:txBody>
      </p:sp>
      <p:sp>
        <p:nvSpPr>
          <p:cNvPr id="10" name="TextBox 9"/>
          <p:cNvSpPr txBox="1"/>
          <p:nvPr/>
        </p:nvSpPr>
        <p:spPr>
          <a:xfrm>
            <a:off x="7040880" y="6400800"/>
            <a:ext cx="4572000" cy="274320"/>
          </a:xfrm>
          <a:prstGeom prst="rect">
            <a:avLst/>
          </a:prstGeom>
          <a:noFill/>
        </p:spPr>
        <p:txBody>
          <a:bodyPr wrap="square" anchor="t" lIns="0" rIns="0" tIns="0" bIns="0">
            <a:spAutoFit/>
          </a:bodyPr>
          <a:lstStyle/>
          <a:p>
            <a:pPr algn="r">
              <a:lnSpc>
                <a:spcPct val="115000"/>
              </a:lnSpc>
            </a:pPr>
            <a:r>
              <a:rPr sz="1000" b="0" i="0">
                <a:solidFill>
                  <a:srgbClr val="6B5E4A"/>
                </a:solidFill>
                <a:latin typeface="Verdana"/>
              </a:rPr>
              <a:t>Laufzettel  ·  oesterreich.gv.at 2030</a:t>
            </a:r>
          </a:p>
        </p:txBody>
      </p:sp>
      <p:pic>
        <p:nvPicPr>
          <p:cNvPr id="11" name="Picture 10" descr="slip.jpg"/>
          <p:cNvPicPr>
            <a:picLocks noChangeAspect="1"/>
          </p:cNvPicPr>
          <p:nvPr/>
        </p:nvPicPr>
        <p:blipFill>
          <a:blip r:embed="rId2"/>
          <a:stretch>
            <a:fillRect/>
          </a:stretch>
        </p:blipFill>
        <p:spPr>
          <a:xfrm>
            <a:off x="548640" y="2148840"/>
            <a:ext cx="6583680" cy="4114800"/>
          </a:xfrm>
          <a:prstGeom prst="rect">
            <a:avLst/>
          </a:prstGeom>
          <a:ln w="12700">
            <a:solidFill>
              <a:srgbClr val="E2D8C6"/>
            </a:solidFill>
          </a:ln>
        </p:spPr>
      </p:pic>
      <p:sp>
        <p:nvSpPr>
          <p:cNvPr id="12" name="Rounded Rectangle 11"/>
          <p:cNvSpPr/>
          <p:nvPr/>
        </p:nvSpPr>
        <p:spPr>
          <a:xfrm>
            <a:off x="7360920" y="2148840"/>
            <a:ext cx="4251960" cy="123444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543800" y="2331720"/>
            <a:ext cx="457200" cy="457200"/>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ptions-w.png"/>
          <p:cNvPicPr>
            <a:picLocks noChangeAspect="1"/>
          </p:cNvPicPr>
          <p:nvPr/>
        </p:nvPicPr>
        <p:blipFill>
          <a:blip r:embed="rId3"/>
          <a:stretch>
            <a:fillRect/>
          </a:stretch>
        </p:blipFill>
        <p:spPr>
          <a:xfrm>
            <a:off x="7653528" y="2441448"/>
            <a:ext cx="237744" cy="237744"/>
          </a:xfrm>
          <a:prstGeom prst="rect">
            <a:avLst/>
          </a:prstGeom>
        </p:spPr>
      </p:pic>
      <p:sp>
        <p:nvSpPr>
          <p:cNvPr id="15" name="TextBox 14"/>
          <p:cNvSpPr txBox="1"/>
          <p:nvPr/>
        </p:nvSpPr>
        <p:spPr>
          <a:xfrm>
            <a:off x="8138160" y="2313432"/>
            <a:ext cx="3337560" cy="411480"/>
          </a:xfrm>
          <a:prstGeom prst="rect">
            <a:avLst/>
          </a:prstGeom>
          <a:noFill/>
        </p:spPr>
        <p:txBody>
          <a:bodyPr wrap="square" anchor="t" lIns="0" rIns="0" tIns="0" bIns="0">
            <a:spAutoFit/>
          </a:bodyPr>
          <a:lstStyle/>
          <a:p>
            <a:pPr algn="l">
              <a:lnSpc>
                <a:spcPct val="115000"/>
              </a:lnSpc>
            </a:pPr>
            <a:r>
              <a:rPr sz="1500" b="1" i="0">
                <a:solidFill>
                  <a:srgbClr val="1F2333"/>
                </a:solidFill>
                <a:latin typeface="Georgia"/>
              </a:rPr>
              <a:t>One official sentence per row</a:t>
            </a:r>
          </a:p>
        </p:txBody>
      </p:sp>
      <p:sp>
        <p:nvSpPr>
          <p:cNvPr id="16" name="TextBox 15"/>
          <p:cNvSpPr txBox="1"/>
          <p:nvPr/>
        </p:nvSpPr>
        <p:spPr>
          <a:xfrm>
            <a:off x="8138160" y="2697480"/>
            <a:ext cx="3337560" cy="685800"/>
          </a:xfrm>
          <a:prstGeom prst="rect">
            <a:avLst/>
          </a:prstGeom>
          <a:noFill/>
        </p:spPr>
        <p:txBody>
          <a:bodyPr wrap="square" anchor="t" lIns="0" rIns="0" tIns="0" bIns="0">
            <a:spAutoFit/>
          </a:bodyPr>
          <a:lstStyle/>
          <a:p>
            <a:pPr algn="l">
              <a:lnSpc>
                <a:spcPct val="115000"/>
              </a:lnSpc>
            </a:pPr>
            <a:r>
              <a:rPr sz="1200" b="0" i="0">
                <a:solidFill>
                  <a:srgbClr val="4A4540"/>
                </a:solidFill>
                <a:latin typeface="Verdana"/>
              </a:rPr>
              <a:t>Spoken and captioned. “New address, confirmed by your landlord.”</a:t>
            </a:r>
          </a:p>
        </p:txBody>
      </p:sp>
      <p:sp>
        <p:nvSpPr>
          <p:cNvPr id="17" name="Rounded Rectangle 16"/>
          <p:cNvSpPr/>
          <p:nvPr/>
        </p:nvSpPr>
        <p:spPr>
          <a:xfrm>
            <a:off x="7360920" y="3520440"/>
            <a:ext cx="4251960" cy="123444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543800" y="3703320"/>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translate-w.png"/>
          <p:cNvPicPr>
            <a:picLocks noChangeAspect="1"/>
          </p:cNvPicPr>
          <p:nvPr/>
        </p:nvPicPr>
        <p:blipFill>
          <a:blip r:embed="rId4"/>
          <a:stretch>
            <a:fillRect/>
          </a:stretch>
        </p:blipFill>
        <p:spPr>
          <a:xfrm>
            <a:off x="7653528" y="3813048"/>
            <a:ext cx="237744" cy="237744"/>
          </a:xfrm>
          <a:prstGeom prst="rect">
            <a:avLst/>
          </a:prstGeom>
        </p:spPr>
      </p:pic>
      <p:sp>
        <p:nvSpPr>
          <p:cNvPr id="20" name="TextBox 19"/>
          <p:cNvSpPr txBox="1"/>
          <p:nvPr/>
        </p:nvSpPr>
        <p:spPr>
          <a:xfrm>
            <a:off x="8138160" y="3685032"/>
            <a:ext cx="3337560" cy="411480"/>
          </a:xfrm>
          <a:prstGeom prst="rect">
            <a:avLst/>
          </a:prstGeom>
          <a:noFill/>
        </p:spPr>
        <p:txBody>
          <a:bodyPr wrap="square" anchor="t" lIns="0" rIns="0" tIns="0" bIns="0">
            <a:spAutoFit/>
          </a:bodyPr>
          <a:lstStyle/>
          <a:p>
            <a:pPr algn="l">
              <a:lnSpc>
                <a:spcPct val="115000"/>
              </a:lnSpc>
            </a:pPr>
            <a:r>
              <a:rPr sz="1500" b="1" i="0">
                <a:solidFill>
                  <a:srgbClr val="1F2333"/>
                </a:solidFill>
                <a:latin typeface="Georgia"/>
              </a:rPr>
              <a:t>German words stay German</a:t>
            </a:r>
          </a:p>
        </p:txBody>
      </p:sp>
      <p:sp>
        <p:nvSpPr>
          <p:cNvPr id="21" name="TextBox 20"/>
          <p:cNvSpPr txBox="1"/>
          <p:nvPr/>
        </p:nvSpPr>
        <p:spPr>
          <a:xfrm>
            <a:off x="8138160" y="4069080"/>
            <a:ext cx="3337560" cy="685800"/>
          </a:xfrm>
          <a:prstGeom prst="rect">
            <a:avLst/>
          </a:prstGeom>
          <a:noFill/>
        </p:spPr>
        <p:txBody>
          <a:bodyPr wrap="square" anchor="t" lIns="0" rIns="0" tIns="0" bIns="0">
            <a:spAutoFit/>
          </a:bodyPr>
          <a:lstStyle/>
          <a:p>
            <a:pPr algn="l">
              <a:lnSpc>
                <a:spcPct val="115000"/>
              </a:lnSpc>
            </a:pPr>
            <a:r>
              <a:rPr sz="1200" b="0" i="0">
                <a:solidFill>
                  <a:srgbClr val="4A4540"/>
                </a:solidFill>
                <a:latin typeface="Verdana"/>
              </a:rPr>
              <a:t>Meldezettel, Hauptwohnsitz: said like at the counter, even in English.</a:t>
            </a:r>
          </a:p>
        </p:txBody>
      </p:sp>
      <p:sp>
        <p:nvSpPr>
          <p:cNvPr id="22" name="Rounded Rectangle 21"/>
          <p:cNvSpPr/>
          <p:nvPr/>
        </p:nvSpPr>
        <p:spPr>
          <a:xfrm>
            <a:off x="7360920" y="4892040"/>
            <a:ext cx="4251960" cy="123444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543800" y="5074920"/>
            <a:ext cx="457200" cy="457200"/>
          </a:xfrm>
          <a:prstGeom prst="ellipse">
            <a:avLst/>
          </a:prstGeom>
          <a:solidFill>
            <a:srgbClr val="1F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mic-w.png"/>
          <p:cNvPicPr>
            <a:picLocks noChangeAspect="1"/>
          </p:cNvPicPr>
          <p:nvPr/>
        </p:nvPicPr>
        <p:blipFill>
          <a:blip r:embed="rId5"/>
          <a:stretch>
            <a:fillRect/>
          </a:stretch>
        </p:blipFill>
        <p:spPr>
          <a:xfrm>
            <a:off x="7653528" y="5184648"/>
            <a:ext cx="237744" cy="237744"/>
          </a:xfrm>
          <a:prstGeom prst="rect">
            <a:avLst/>
          </a:prstGeom>
        </p:spPr>
      </p:pic>
      <p:sp>
        <p:nvSpPr>
          <p:cNvPr id="25" name="TextBox 24"/>
          <p:cNvSpPr txBox="1"/>
          <p:nvPr/>
        </p:nvSpPr>
        <p:spPr>
          <a:xfrm>
            <a:off x="8138160" y="5056632"/>
            <a:ext cx="3337560" cy="411480"/>
          </a:xfrm>
          <a:prstGeom prst="rect">
            <a:avLst/>
          </a:prstGeom>
          <a:noFill/>
        </p:spPr>
        <p:txBody>
          <a:bodyPr wrap="square" anchor="t" lIns="0" rIns="0" tIns="0" bIns="0">
            <a:spAutoFit/>
          </a:bodyPr>
          <a:lstStyle/>
          <a:p>
            <a:pPr algn="l">
              <a:lnSpc>
                <a:spcPct val="115000"/>
              </a:lnSpc>
            </a:pPr>
            <a:r>
              <a:rPr sz="1500" b="1" i="0">
                <a:solidFill>
                  <a:srgbClr val="1F2333"/>
                </a:solidFill>
                <a:latin typeface="Georgia"/>
              </a:rPr>
              <a:t>Say it your way</a:t>
            </a:r>
          </a:p>
        </p:txBody>
      </p:sp>
      <p:sp>
        <p:nvSpPr>
          <p:cNvPr id="26" name="TextBox 25"/>
          <p:cNvSpPr txBox="1"/>
          <p:nvPr/>
        </p:nvSpPr>
        <p:spPr>
          <a:xfrm>
            <a:off x="8138160" y="5440680"/>
            <a:ext cx="3337560" cy="685800"/>
          </a:xfrm>
          <a:prstGeom prst="rect">
            <a:avLst/>
          </a:prstGeom>
          <a:noFill/>
        </p:spPr>
        <p:txBody>
          <a:bodyPr wrap="square" anchor="t" lIns="0" rIns="0" tIns="0" bIns="0">
            <a:spAutoFit/>
          </a:bodyPr>
          <a:lstStyle/>
          <a:p>
            <a:pPr algn="l">
              <a:lnSpc>
                <a:spcPct val="115000"/>
              </a:lnSpc>
            </a:pPr>
            <a:r>
              <a:rPr sz="1200" b="0" i="0">
                <a:solidFill>
                  <a:srgbClr val="4A4540"/>
                </a:solidFill>
                <a:latin typeface="Verdana"/>
              </a:rPr>
              <a:t>“I bin grad nach Wien zogn” works. A person is one tap 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Rounded Rectangle 1"/>
          <p:cNvSpPr/>
          <p:nvPr/>
        </p:nvSpPr>
        <p:spPr>
          <a:xfrm>
            <a:off x="548640"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1  Problem</a:t>
            </a:r>
          </a:p>
        </p:txBody>
      </p:sp>
      <p:sp>
        <p:nvSpPr>
          <p:cNvPr id="3" name="Rounded Rectangle 2"/>
          <p:cNvSpPr/>
          <p:nvPr/>
        </p:nvSpPr>
        <p:spPr>
          <a:xfrm>
            <a:off x="2075688"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2  Proactive</a:t>
            </a:r>
          </a:p>
        </p:txBody>
      </p:sp>
      <p:sp>
        <p:nvSpPr>
          <p:cNvPr id="4" name="Rounded Rectangle 3"/>
          <p:cNvSpPr/>
          <p:nvPr/>
        </p:nvSpPr>
        <p:spPr>
          <a:xfrm>
            <a:off x="3602736" y="274320"/>
            <a:ext cx="178308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3  Gipfelstempel</a:t>
            </a:r>
          </a:p>
        </p:txBody>
      </p:sp>
      <p:sp>
        <p:nvSpPr>
          <p:cNvPr id="5" name="Rounded Rectangle 4"/>
          <p:cNvSpPr/>
          <p:nvPr/>
        </p:nvSpPr>
        <p:spPr>
          <a:xfrm>
            <a:off x="5495544" y="274320"/>
            <a:ext cx="1417320"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FFFDF7"/>
                </a:solidFill>
                <a:latin typeface="Verdana"/>
              </a:rPr>
              <a:t>4  Demo</a:t>
            </a:r>
          </a:p>
        </p:txBody>
      </p:sp>
      <p:sp>
        <p:nvSpPr>
          <p:cNvPr id="6" name="Rounded Rectangle 5"/>
          <p:cNvSpPr/>
          <p:nvPr/>
        </p:nvSpPr>
        <p:spPr>
          <a:xfrm>
            <a:off x="7022592"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5  Impact</a:t>
            </a:r>
          </a:p>
        </p:txBody>
      </p:sp>
      <p:sp>
        <p:nvSpPr>
          <p:cNvPr id="7" name="TextBox 6"/>
          <p:cNvSpPr txBox="1"/>
          <p:nvPr/>
        </p:nvSpPr>
        <p:spPr>
          <a:xfrm>
            <a:off x="548640" y="822960"/>
            <a:ext cx="11064240" cy="914400"/>
          </a:xfrm>
          <a:prstGeom prst="rect">
            <a:avLst/>
          </a:prstGeom>
          <a:noFill/>
        </p:spPr>
        <p:txBody>
          <a:bodyPr wrap="square" anchor="t" lIns="0" rIns="0" tIns="0" bIns="0">
            <a:spAutoFit/>
          </a:bodyPr>
          <a:lstStyle/>
          <a:p>
            <a:pPr algn="l">
              <a:lnSpc>
                <a:spcPct val="100000"/>
              </a:lnSpc>
            </a:pPr>
            <a:r>
              <a:rPr sz="3200" b="1" i="0">
                <a:solidFill>
                  <a:srgbClr val="1F2333"/>
                </a:solidFill>
                <a:latin typeface="Georgia"/>
              </a:rPr>
              <a:t>Amtsdeutsch in, plain words out</a:t>
            </a:r>
          </a:p>
        </p:txBody>
      </p:sp>
      <p:sp>
        <p:nvSpPr>
          <p:cNvPr id="8" name="Rectangle 7"/>
          <p:cNvSpPr/>
          <p:nvPr/>
        </p:nvSpPr>
        <p:spPr>
          <a:xfrm>
            <a:off x="548640" y="1783080"/>
            <a:ext cx="10058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00800"/>
            <a:ext cx="9144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6</a:t>
            </a:r>
          </a:p>
        </p:txBody>
      </p:sp>
      <p:sp>
        <p:nvSpPr>
          <p:cNvPr id="10" name="TextBox 9"/>
          <p:cNvSpPr txBox="1"/>
          <p:nvPr/>
        </p:nvSpPr>
        <p:spPr>
          <a:xfrm>
            <a:off x="7040880" y="6400800"/>
            <a:ext cx="4572000" cy="274320"/>
          </a:xfrm>
          <a:prstGeom prst="rect">
            <a:avLst/>
          </a:prstGeom>
          <a:noFill/>
        </p:spPr>
        <p:txBody>
          <a:bodyPr wrap="square" anchor="t" lIns="0" rIns="0" tIns="0" bIns="0">
            <a:spAutoFit/>
          </a:bodyPr>
          <a:lstStyle/>
          <a:p>
            <a:pPr algn="r">
              <a:lnSpc>
                <a:spcPct val="115000"/>
              </a:lnSpc>
            </a:pPr>
            <a:r>
              <a:rPr sz="1000" b="0" i="0">
                <a:solidFill>
                  <a:srgbClr val="6B5E4A"/>
                </a:solidFill>
                <a:latin typeface="Verdana"/>
              </a:rPr>
              <a:t>Laufzettel  ·  oesterreich.gv.at 2030</a:t>
            </a:r>
          </a:p>
        </p:txBody>
      </p:sp>
      <p:pic>
        <p:nvPicPr>
          <p:cNvPr id="11" name="Picture 10" descr="letter.jpg"/>
          <p:cNvPicPr>
            <a:picLocks noChangeAspect="1"/>
          </p:cNvPicPr>
          <p:nvPr/>
        </p:nvPicPr>
        <p:blipFill>
          <a:blip r:embed="rId2"/>
          <a:stretch>
            <a:fillRect/>
          </a:stretch>
        </p:blipFill>
        <p:spPr>
          <a:xfrm>
            <a:off x="548640" y="2148840"/>
            <a:ext cx="6035040" cy="3958438"/>
          </a:xfrm>
          <a:prstGeom prst="rect">
            <a:avLst/>
          </a:prstGeom>
          <a:ln w="12700">
            <a:solidFill>
              <a:srgbClr val="E2D8C6"/>
            </a:solidFill>
          </a:ln>
        </p:spPr>
      </p:pic>
      <p:sp>
        <p:nvSpPr>
          <p:cNvPr id="12" name="Oval 11"/>
          <p:cNvSpPr/>
          <p:nvPr/>
        </p:nvSpPr>
        <p:spPr>
          <a:xfrm>
            <a:off x="6949440" y="2148840"/>
            <a:ext cx="530352" cy="530352"/>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mail-w.png"/>
          <p:cNvPicPr>
            <a:picLocks noChangeAspect="1"/>
          </p:cNvPicPr>
          <p:nvPr/>
        </p:nvPicPr>
        <p:blipFill>
          <a:blip r:embed="rId3"/>
          <a:stretch>
            <a:fillRect/>
          </a:stretch>
        </p:blipFill>
        <p:spPr>
          <a:xfrm>
            <a:off x="7076724" y="2276124"/>
            <a:ext cx="275784" cy="275784"/>
          </a:xfrm>
          <a:prstGeom prst="rect">
            <a:avLst/>
          </a:prstGeom>
        </p:spPr>
      </p:pic>
      <p:sp>
        <p:nvSpPr>
          <p:cNvPr id="14" name="TextBox 13"/>
          <p:cNvSpPr txBox="1"/>
          <p:nvPr/>
        </p:nvSpPr>
        <p:spPr>
          <a:xfrm>
            <a:off x="7680960" y="2148840"/>
            <a:ext cx="3931920" cy="411480"/>
          </a:xfrm>
          <a:prstGeom prst="rect">
            <a:avLst/>
          </a:prstGeom>
          <a:noFill/>
        </p:spPr>
        <p:txBody>
          <a:bodyPr wrap="square" anchor="t" lIns="0" rIns="0" tIns="0" bIns="0">
            <a:spAutoFit/>
          </a:bodyPr>
          <a:lstStyle/>
          <a:p>
            <a:pPr algn="l">
              <a:lnSpc>
                <a:spcPct val="115000"/>
              </a:lnSpc>
            </a:pPr>
            <a:r>
              <a:rPr sz="1600" b="1" i="0">
                <a:solidFill>
                  <a:srgbClr val="1F2333"/>
                </a:solidFill>
                <a:latin typeface="Georgia"/>
              </a:rPr>
              <a:t>While she registers</a:t>
            </a:r>
          </a:p>
        </p:txBody>
      </p:sp>
      <p:sp>
        <p:nvSpPr>
          <p:cNvPr id="15" name="TextBox 14"/>
          <p:cNvSpPr txBox="1"/>
          <p:nvPr/>
        </p:nvSpPr>
        <p:spPr>
          <a:xfrm>
            <a:off x="7680960" y="2560320"/>
            <a:ext cx="3931920" cy="731520"/>
          </a:xfrm>
          <a:prstGeom prst="rect">
            <a:avLst/>
          </a:prstGeom>
          <a:noFill/>
        </p:spPr>
        <p:txBody>
          <a:bodyPr wrap="square" anchor="t" lIns="0" rIns="0" tIns="0" bIns="0">
            <a:spAutoFit/>
          </a:bodyPr>
          <a:lstStyle/>
          <a:p>
            <a:pPr algn="l">
              <a:lnSpc>
                <a:spcPct val="115000"/>
              </a:lnSpc>
            </a:pPr>
            <a:r>
              <a:rPr sz="1300" b="0" i="0">
                <a:solidFill>
                  <a:srgbClr val="4A4540"/>
                </a:solidFill>
                <a:latin typeface="Verdana"/>
              </a:rPr>
              <a:t>a parking fine arrives in her mailbox: an Organstrafverfügung.</a:t>
            </a:r>
          </a:p>
        </p:txBody>
      </p:sp>
      <p:sp>
        <p:nvSpPr>
          <p:cNvPr id="16" name="Oval 15"/>
          <p:cNvSpPr/>
          <p:nvPr/>
        </p:nvSpPr>
        <p:spPr>
          <a:xfrm>
            <a:off x="6949440" y="3474720"/>
            <a:ext cx="530352" cy="53035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ranslate-w.png"/>
          <p:cNvPicPr>
            <a:picLocks noChangeAspect="1"/>
          </p:cNvPicPr>
          <p:nvPr/>
        </p:nvPicPr>
        <p:blipFill>
          <a:blip r:embed="rId4"/>
          <a:stretch>
            <a:fillRect/>
          </a:stretch>
        </p:blipFill>
        <p:spPr>
          <a:xfrm>
            <a:off x="7076724" y="3602004"/>
            <a:ext cx="275784" cy="275784"/>
          </a:xfrm>
          <a:prstGeom prst="rect">
            <a:avLst/>
          </a:prstGeom>
        </p:spPr>
      </p:pic>
      <p:sp>
        <p:nvSpPr>
          <p:cNvPr id="18" name="TextBox 17"/>
          <p:cNvSpPr txBox="1"/>
          <p:nvPr/>
        </p:nvSpPr>
        <p:spPr>
          <a:xfrm>
            <a:off x="7680960" y="3474720"/>
            <a:ext cx="3931920" cy="411480"/>
          </a:xfrm>
          <a:prstGeom prst="rect">
            <a:avLst/>
          </a:prstGeom>
          <a:noFill/>
        </p:spPr>
        <p:txBody>
          <a:bodyPr wrap="square" anchor="t" lIns="0" rIns="0" tIns="0" bIns="0">
            <a:spAutoFit/>
          </a:bodyPr>
          <a:lstStyle/>
          <a:p>
            <a:pPr algn="l">
              <a:lnSpc>
                <a:spcPct val="115000"/>
              </a:lnSpc>
            </a:pPr>
            <a:r>
              <a:rPr sz="1600" b="1" i="0">
                <a:solidFill>
                  <a:srgbClr val="1F2333"/>
                </a:solidFill>
                <a:latin typeface="Georgia"/>
              </a:rPr>
              <a:t>The slip explains it</a:t>
            </a:r>
          </a:p>
        </p:txBody>
      </p:sp>
      <p:sp>
        <p:nvSpPr>
          <p:cNvPr id="19" name="TextBox 18"/>
          <p:cNvSpPr txBox="1"/>
          <p:nvPr/>
        </p:nvSpPr>
        <p:spPr>
          <a:xfrm>
            <a:off x="7680960" y="3886200"/>
            <a:ext cx="3931920" cy="731520"/>
          </a:xfrm>
          <a:prstGeom prst="rect">
            <a:avLst/>
          </a:prstGeom>
          <a:noFill/>
        </p:spPr>
        <p:txBody>
          <a:bodyPr wrap="square" anchor="t" lIns="0" rIns="0" tIns="0" bIns="0">
            <a:spAutoFit/>
          </a:bodyPr>
          <a:lstStyle/>
          <a:p>
            <a:pPr algn="l">
              <a:lnSpc>
                <a:spcPct val="115000"/>
              </a:lnSpc>
            </a:pPr>
            <a:r>
              <a:rPr sz="1300" b="0" i="0">
                <a:solidFill>
                  <a:srgbClr val="4A4540"/>
                </a:solidFill>
                <a:latin typeface="Verdana"/>
              </a:rPr>
              <a:t>what happened, €36 by 28 October, what happens if nothing is paid.</a:t>
            </a:r>
          </a:p>
        </p:txBody>
      </p:sp>
      <p:sp>
        <p:nvSpPr>
          <p:cNvPr id="20" name="Oval 19"/>
          <p:cNvSpPr/>
          <p:nvPr/>
        </p:nvSpPr>
        <p:spPr>
          <a:xfrm>
            <a:off x="6949440" y="4800600"/>
            <a:ext cx="530352" cy="530352"/>
          </a:xfrm>
          <a:prstGeom prst="ellipse">
            <a:avLst/>
          </a:prstGeom>
          <a:solidFill>
            <a:srgbClr val="1F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arking-w.png"/>
          <p:cNvPicPr>
            <a:picLocks noChangeAspect="1"/>
          </p:cNvPicPr>
          <p:nvPr/>
        </p:nvPicPr>
        <p:blipFill>
          <a:blip r:embed="rId5"/>
          <a:stretch>
            <a:fillRect/>
          </a:stretch>
        </p:blipFill>
        <p:spPr>
          <a:xfrm>
            <a:off x="7076724" y="4927884"/>
            <a:ext cx="275784" cy="275784"/>
          </a:xfrm>
          <a:prstGeom prst="rect">
            <a:avLst/>
          </a:prstGeom>
        </p:spPr>
      </p:pic>
      <p:sp>
        <p:nvSpPr>
          <p:cNvPr id="22" name="TextBox 21"/>
          <p:cNvSpPr txBox="1"/>
          <p:nvPr/>
        </p:nvSpPr>
        <p:spPr>
          <a:xfrm>
            <a:off x="7680960" y="4800600"/>
            <a:ext cx="3931920" cy="411480"/>
          </a:xfrm>
          <a:prstGeom prst="rect">
            <a:avLst/>
          </a:prstGeom>
          <a:noFill/>
        </p:spPr>
        <p:txBody>
          <a:bodyPr wrap="square" anchor="t" lIns="0" rIns="0" tIns="0" bIns="0">
            <a:spAutoFit/>
          </a:bodyPr>
          <a:lstStyle/>
          <a:p>
            <a:pPr algn="l">
              <a:lnSpc>
                <a:spcPct val="115000"/>
              </a:lnSpc>
            </a:pPr>
            <a:r>
              <a:rPr sz="1600" b="1" i="0">
                <a:solidFill>
                  <a:srgbClr val="1F2333"/>
                </a:solidFill>
                <a:latin typeface="Georgia"/>
              </a:rPr>
              <a:t>And links it to the move</a:t>
            </a:r>
          </a:p>
        </p:txBody>
      </p:sp>
      <p:sp>
        <p:nvSpPr>
          <p:cNvPr id="23" name="TextBox 22"/>
          <p:cNvSpPr txBox="1"/>
          <p:nvPr/>
        </p:nvSpPr>
        <p:spPr>
          <a:xfrm>
            <a:off x="7680960" y="5212080"/>
            <a:ext cx="3931920" cy="731520"/>
          </a:xfrm>
          <a:prstGeom prst="rect">
            <a:avLst/>
          </a:prstGeom>
          <a:noFill/>
        </p:spPr>
        <p:txBody>
          <a:bodyPr wrap="square" anchor="t" lIns="0" rIns="0" tIns="0" bIns="0">
            <a:spAutoFit/>
          </a:bodyPr>
          <a:lstStyle/>
          <a:p>
            <a:pPr algn="l">
              <a:lnSpc>
                <a:spcPct val="115000"/>
              </a:lnSpc>
            </a:pPr>
            <a:r>
              <a:rPr sz="1300" b="0" i="0">
                <a:solidFill>
                  <a:srgbClr val="4A4540"/>
                </a:solidFill>
                <a:latin typeface="Verdana"/>
              </a:rPr>
              <a:t>with the new Hauptwohnsitz she can get a Parkpickerl. Proactive.</a:t>
            </a:r>
          </a:p>
        </p:txBody>
      </p:sp>
      <p:sp>
        <p:nvSpPr>
          <p:cNvPr id="24" name="Rounded Rectangle 23"/>
          <p:cNvSpPr/>
          <p:nvPr/>
        </p:nvSpPr>
        <p:spPr>
          <a:xfrm rot="21120000">
            <a:off x="4754880" y="5074920"/>
            <a:ext cx="1645920" cy="777240"/>
          </a:xfrm>
          <a:prstGeom prst="roundRect">
            <a:avLst>
              <a:gd name="adj" fmla="val 12000"/>
            </a:avLst>
          </a:prstGeom>
          <a:noFill/>
          <a:ln w="38100">
            <a:solidFill>
              <a:srgbClr val="2C4A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rot="21120000">
            <a:off x="4828032" y="5148072"/>
            <a:ext cx="1499616" cy="630936"/>
          </a:xfrm>
          <a:prstGeom prst="roundRect">
            <a:avLst>
              <a:gd name="adj" fmla="val 10000"/>
            </a:avLst>
          </a:prstGeom>
          <a:noFill/>
          <a:ln w="12700">
            <a:solidFill>
              <a:srgbClr val="2C4A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2C4AA6"/>
                </a:solidFill>
                <a:latin typeface="Verdana"/>
              </a:rPr>
              <a:t>STADT WIEN</a:t>
            </a:r>
          </a:p>
          <a:p>
            <a:pPr algn="ctr"/>
            <a:r>
              <a:rPr sz="2200" b="1">
                <a:solidFill>
                  <a:srgbClr val="2C4AA6"/>
                </a:solidFill>
                <a:latin typeface="Georgia"/>
              </a:rPr>
              <a:t>PAID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Rounded Rectangle 1"/>
          <p:cNvSpPr/>
          <p:nvPr/>
        </p:nvSpPr>
        <p:spPr>
          <a:xfrm>
            <a:off x="548640"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1  Problem</a:t>
            </a:r>
          </a:p>
        </p:txBody>
      </p:sp>
      <p:sp>
        <p:nvSpPr>
          <p:cNvPr id="3" name="Rounded Rectangle 2"/>
          <p:cNvSpPr/>
          <p:nvPr/>
        </p:nvSpPr>
        <p:spPr>
          <a:xfrm>
            <a:off x="2075688"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2  Proactive</a:t>
            </a:r>
          </a:p>
        </p:txBody>
      </p:sp>
      <p:sp>
        <p:nvSpPr>
          <p:cNvPr id="4" name="Rounded Rectangle 3"/>
          <p:cNvSpPr/>
          <p:nvPr/>
        </p:nvSpPr>
        <p:spPr>
          <a:xfrm>
            <a:off x="3602736" y="274320"/>
            <a:ext cx="178308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3  Gipfelstempel</a:t>
            </a:r>
          </a:p>
        </p:txBody>
      </p:sp>
      <p:sp>
        <p:nvSpPr>
          <p:cNvPr id="5" name="Rounded Rectangle 4"/>
          <p:cNvSpPr/>
          <p:nvPr/>
        </p:nvSpPr>
        <p:spPr>
          <a:xfrm>
            <a:off x="5495544" y="274320"/>
            <a:ext cx="1417320" cy="310896"/>
          </a:xfrm>
          <a:prstGeom prst="roundRect">
            <a:avLst>
              <a:gd name="adj" fmla="val 50000"/>
            </a:avLst>
          </a:prstGeom>
          <a:solidFill>
            <a:srgbClr val="E6D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5E5240"/>
                </a:solidFill>
                <a:latin typeface="Verdana"/>
              </a:rPr>
              <a:t>4  Demo</a:t>
            </a:r>
          </a:p>
        </p:txBody>
      </p:sp>
      <p:sp>
        <p:nvSpPr>
          <p:cNvPr id="6" name="Rounded Rectangle 5"/>
          <p:cNvSpPr/>
          <p:nvPr/>
        </p:nvSpPr>
        <p:spPr>
          <a:xfrm>
            <a:off x="7022592" y="274320"/>
            <a:ext cx="1417320"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50" b="1">
                <a:solidFill>
                  <a:srgbClr val="FFFDF7"/>
                </a:solidFill>
                <a:latin typeface="Verdana"/>
              </a:rPr>
              <a:t>5  Impact</a:t>
            </a:r>
          </a:p>
        </p:txBody>
      </p:sp>
      <p:sp>
        <p:nvSpPr>
          <p:cNvPr id="7" name="TextBox 6"/>
          <p:cNvSpPr txBox="1"/>
          <p:nvPr/>
        </p:nvSpPr>
        <p:spPr>
          <a:xfrm>
            <a:off x="548640" y="822960"/>
            <a:ext cx="11064240" cy="914400"/>
          </a:xfrm>
          <a:prstGeom prst="rect">
            <a:avLst/>
          </a:prstGeom>
          <a:noFill/>
        </p:spPr>
        <p:txBody>
          <a:bodyPr wrap="square" anchor="t" lIns="0" rIns="0" tIns="0" bIns="0">
            <a:spAutoFit/>
          </a:bodyPr>
          <a:lstStyle/>
          <a:p>
            <a:pPr algn="l">
              <a:lnSpc>
                <a:spcPct val="100000"/>
              </a:lnSpc>
            </a:pPr>
            <a:r>
              <a:rPr sz="3200" b="1" i="0">
                <a:solidFill>
                  <a:srgbClr val="1F2333"/>
                </a:solidFill>
                <a:latin typeface="Georgia"/>
              </a:rPr>
              <a:t>Built for the brief, and for the counter</a:t>
            </a:r>
          </a:p>
        </p:txBody>
      </p:sp>
      <p:sp>
        <p:nvSpPr>
          <p:cNvPr id="8" name="Rectangle 7"/>
          <p:cNvSpPr/>
          <p:nvPr/>
        </p:nvSpPr>
        <p:spPr>
          <a:xfrm>
            <a:off x="548640" y="1783080"/>
            <a:ext cx="1005840"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00800"/>
            <a:ext cx="9144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7</a:t>
            </a:r>
          </a:p>
        </p:txBody>
      </p:sp>
      <p:sp>
        <p:nvSpPr>
          <p:cNvPr id="10" name="TextBox 9"/>
          <p:cNvSpPr txBox="1"/>
          <p:nvPr/>
        </p:nvSpPr>
        <p:spPr>
          <a:xfrm>
            <a:off x="7040880" y="6400800"/>
            <a:ext cx="4572000" cy="274320"/>
          </a:xfrm>
          <a:prstGeom prst="rect">
            <a:avLst/>
          </a:prstGeom>
          <a:noFill/>
        </p:spPr>
        <p:txBody>
          <a:bodyPr wrap="square" anchor="t" lIns="0" rIns="0" tIns="0" bIns="0">
            <a:spAutoFit/>
          </a:bodyPr>
          <a:lstStyle/>
          <a:p>
            <a:pPr algn="r">
              <a:lnSpc>
                <a:spcPct val="115000"/>
              </a:lnSpc>
            </a:pPr>
            <a:r>
              <a:rPr sz="1000" b="0" i="0">
                <a:solidFill>
                  <a:srgbClr val="6B5E4A"/>
                </a:solidFill>
                <a:latin typeface="Verdana"/>
              </a:rPr>
              <a:t>Laufzettel  ·  oesterreich.gv.at 2030</a:t>
            </a:r>
          </a:p>
        </p:txBody>
      </p:sp>
      <p:sp>
        <p:nvSpPr>
          <p:cNvPr id="11" name="Oval 10"/>
          <p:cNvSpPr/>
          <p:nvPr/>
        </p:nvSpPr>
        <p:spPr>
          <a:xfrm>
            <a:off x="548640" y="212140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ic-w.png"/>
          <p:cNvPicPr>
            <a:picLocks noChangeAspect="1"/>
          </p:cNvPicPr>
          <p:nvPr/>
        </p:nvPicPr>
        <p:blipFill>
          <a:blip r:embed="rId2"/>
          <a:stretch>
            <a:fillRect/>
          </a:stretch>
        </p:blipFill>
        <p:spPr>
          <a:xfrm>
            <a:off x="645200" y="2217968"/>
            <a:ext cx="209216" cy="209216"/>
          </a:xfrm>
          <a:prstGeom prst="rect">
            <a:avLst/>
          </a:prstGeom>
        </p:spPr>
      </p:pic>
      <p:sp>
        <p:nvSpPr>
          <p:cNvPr id="13" name="TextBox 12"/>
          <p:cNvSpPr txBox="1"/>
          <p:nvPr/>
        </p:nvSpPr>
        <p:spPr>
          <a:xfrm>
            <a:off x="1097280" y="218541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Colloquial and dialect input</a:t>
            </a:r>
          </a:p>
        </p:txBody>
      </p:sp>
      <p:sp>
        <p:nvSpPr>
          <p:cNvPr id="14" name="Oval 13"/>
          <p:cNvSpPr/>
          <p:nvPr/>
        </p:nvSpPr>
        <p:spPr>
          <a:xfrm>
            <a:off x="548640" y="267004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translate-w.png"/>
          <p:cNvPicPr>
            <a:picLocks noChangeAspect="1"/>
          </p:cNvPicPr>
          <p:nvPr/>
        </p:nvPicPr>
        <p:blipFill>
          <a:blip r:embed="rId3"/>
          <a:stretch>
            <a:fillRect/>
          </a:stretch>
        </p:blipFill>
        <p:spPr>
          <a:xfrm>
            <a:off x="645200" y="2766608"/>
            <a:ext cx="209216" cy="209216"/>
          </a:xfrm>
          <a:prstGeom prst="rect">
            <a:avLst/>
          </a:prstGeom>
        </p:spPr>
      </p:pic>
      <p:sp>
        <p:nvSpPr>
          <p:cNvPr id="16" name="TextBox 15"/>
          <p:cNvSpPr txBox="1"/>
          <p:nvPr/>
        </p:nvSpPr>
        <p:spPr>
          <a:xfrm>
            <a:off x="1097280" y="273405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Amtsdeutsch in plain language</a:t>
            </a:r>
          </a:p>
        </p:txBody>
      </p:sp>
      <p:sp>
        <p:nvSpPr>
          <p:cNvPr id="17" name="Oval 16"/>
          <p:cNvSpPr/>
          <p:nvPr/>
        </p:nvSpPr>
        <p:spPr>
          <a:xfrm>
            <a:off x="548640" y="321868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ute-w.png"/>
          <p:cNvPicPr>
            <a:picLocks noChangeAspect="1"/>
          </p:cNvPicPr>
          <p:nvPr/>
        </p:nvPicPr>
        <p:blipFill>
          <a:blip r:embed="rId4"/>
          <a:stretch>
            <a:fillRect/>
          </a:stretch>
        </p:blipFill>
        <p:spPr>
          <a:xfrm>
            <a:off x="645200" y="3315248"/>
            <a:ext cx="209216" cy="209216"/>
          </a:xfrm>
          <a:prstGeom prst="rect">
            <a:avLst/>
          </a:prstGeom>
        </p:spPr>
      </p:pic>
      <p:sp>
        <p:nvSpPr>
          <p:cNvPr id="19" name="TextBox 18"/>
          <p:cNvSpPr txBox="1"/>
          <p:nvPr/>
        </p:nvSpPr>
        <p:spPr>
          <a:xfrm>
            <a:off x="1097280" y="328269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Guided workflow with a prerequisite check</a:t>
            </a:r>
          </a:p>
        </p:txBody>
      </p:sp>
      <p:sp>
        <p:nvSpPr>
          <p:cNvPr id="20" name="Oval 19"/>
          <p:cNvSpPr/>
          <p:nvPr/>
        </p:nvSpPr>
        <p:spPr>
          <a:xfrm>
            <a:off x="548640" y="376732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ccess-w.png"/>
          <p:cNvPicPr>
            <a:picLocks noChangeAspect="1"/>
          </p:cNvPicPr>
          <p:nvPr/>
        </p:nvPicPr>
        <p:blipFill>
          <a:blip r:embed="rId5"/>
          <a:stretch>
            <a:fillRect/>
          </a:stretch>
        </p:blipFill>
        <p:spPr>
          <a:xfrm>
            <a:off x="645200" y="3863888"/>
            <a:ext cx="209216" cy="209216"/>
          </a:xfrm>
          <a:prstGeom prst="rect">
            <a:avLst/>
          </a:prstGeom>
        </p:spPr>
      </p:pic>
      <p:sp>
        <p:nvSpPr>
          <p:cNvPr id="22" name="TextBox 21"/>
          <p:cNvSpPr txBox="1"/>
          <p:nvPr/>
        </p:nvSpPr>
        <p:spPr>
          <a:xfrm>
            <a:off x="1097280" y="383133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German and English, captions, keyboard, big targets</a:t>
            </a:r>
          </a:p>
        </p:txBody>
      </p:sp>
      <p:sp>
        <p:nvSpPr>
          <p:cNvPr id="23" name="Oval 22"/>
          <p:cNvSpPr/>
          <p:nvPr/>
        </p:nvSpPr>
        <p:spPr>
          <a:xfrm>
            <a:off x="548640" y="431596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eadset-w.png"/>
          <p:cNvPicPr>
            <a:picLocks noChangeAspect="1"/>
          </p:cNvPicPr>
          <p:nvPr/>
        </p:nvPicPr>
        <p:blipFill>
          <a:blip r:embed="rId6"/>
          <a:stretch>
            <a:fillRect/>
          </a:stretch>
        </p:blipFill>
        <p:spPr>
          <a:xfrm>
            <a:off x="645200" y="4412528"/>
            <a:ext cx="209216" cy="209216"/>
          </a:xfrm>
          <a:prstGeom prst="rect">
            <a:avLst/>
          </a:prstGeom>
        </p:spPr>
      </p:pic>
      <p:sp>
        <p:nvSpPr>
          <p:cNvPr id="25" name="TextBox 24"/>
          <p:cNvSpPr txBox="1"/>
          <p:nvPr/>
        </p:nvSpPr>
        <p:spPr>
          <a:xfrm>
            <a:off x="1097280" y="437997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A person one tap away, with the case attached</a:t>
            </a:r>
          </a:p>
        </p:txBody>
      </p:sp>
      <p:sp>
        <p:nvSpPr>
          <p:cNvPr id="26" name="Oval 25"/>
          <p:cNvSpPr/>
          <p:nvPr/>
        </p:nvSpPr>
        <p:spPr>
          <a:xfrm>
            <a:off x="548640" y="486460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shield-w.png"/>
          <p:cNvPicPr>
            <a:picLocks noChangeAspect="1"/>
          </p:cNvPicPr>
          <p:nvPr/>
        </p:nvPicPr>
        <p:blipFill>
          <a:blip r:embed="rId7"/>
          <a:stretch>
            <a:fillRect/>
          </a:stretch>
        </p:blipFill>
        <p:spPr>
          <a:xfrm>
            <a:off x="645200" y="4961168"/>
            <a:ext cx="209216" cy="209216"/>
          </a:xfrm>
          <a:prstGeom prst="rect">
            <a:avLst/>
          </a:prstGeom>
        </p:spPr>
      </p:pic>
      <p:sp>
        <p:nvSpPr>
          <p:cNvPr id="28" name="TextBox 27"/>
          <p:cNvSpPr txBox="1"/>
          <p:nvPr/>
        </p:nvSpPr>
        <p:spPr>
          <a:xfrm>
            <a:off x="1097280" y="492861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The AI never submits, signs or pays</a:t>
            </a:r>
          </a:p>
        </p:txBody>
      </p:sp>
      <p:sp>
        <p:nvSpPr>
          <p:cNvPr id="29" name="Oval 28"/>
          <p:cNvSpPr/>
          <p:nvPr/>
        </p:nvSpPr>
        <p:spPr>
          <a:xfrm>
            <a:off x="548640" y="5413248"/>
            <a:ext cx="402336" cy="402336"/>
          </a:xfrm>
          <a:prstGeom prst="ellipse">
            <a:avLst/>
          </a:prstGeom>
          <a:solidFill>
            <a:srgbClr val="2C4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ayers-w.png"/>
          <p:cNvPicPr>
            <a:picLocks noChangeAspect="1"/>
          </p:cNvPicPr>
          <p:nvPr/>
        </p:nvPicPr>
        <p:blipFill>
          <a:blip r:embed="rId8"/>
          <a:stretch>
            <a:fillRect/>
          </a:stretch>
        </p:blipFill>
        <p:spPr>
          <a:xfrm>
            <a:off x="645200" y="5509808"/>
            <a:ext cx="209216" cy="209216"/>
          </a:xfrm>
          <a:prstGeom prst="rect">
            <a:avLst/>
          </a:prstGeom>
        </p:spPr>
      </p:pic>
      <p:sp>
        <p:nvSpPr>
          <p:cNvPr id="31" name="TextBox 30"/>
          <p:cNvSpPr txBox="1"/>
          <p:nvPr/>
        </p:nvSpPr>
        <p:spPr>
          <a:xfrm>
            <a:off x="1097280" y="5477256"/>
            <a:ext cx="5120640" cy="384048"/>
          </a:xfrm>
          <a:prstGeom prst="rect">
            <a:avLst/>
          </a:prstGeom>
          <a:noFill/>
        </p:spPr>
        <p:txBody>
          <a:bodyPr wrap="square" anchor="t" lIns="0" rIns="0" tIns="0" bIns="0">
            <a:spAutoFit/>
          </a:bodyPr>
          <a:lstStyle/>
          <a:p>
            <a:pPr algn="l">
              <a:lnSpc>
                <a:spcPct val="115000"/>
              </a:lnSpc>
            </a:pPr>
            <a:r>
              <a:rPr sz="1500" b="0" i="0">
                <a:solidFill>
                  <a:srgbClr val="1F2333"/>
                </a:solidFill>
                <a:latin typeface="Verdana"/>
              </a:rPr>
              <a:t>Passport, residence, childcare, combined requests</a:t>
            </a:r>
          </a:p>
        </p:txBody>
      </p:sp>
      <p:sp>
        <p:nvSpPr>
          <p:cNvPr id="32" name="Rounded Rectangle 31"/>
          <p:cNvSpPr/>
          <p:nvPr/>
        </p:nvSpPr>
        <p:spPr>
          <a:xfrm>
            <a:off x="6583680" y="2148840"/>
            <a:ext cx="5029200" cy="2194560"/>
          </a:xfrm>
          <a:prstGeom prst="roundRect">
            <a:avLst>
              <a:gd name="adj" fmla="val 8000"/>
            </a:avLst>
          </a:prstGeom>
          <a:solidFill>
            <a:srgbClr val="1F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building-w.png"/>
          <p:cNvPicPr>
            <a:picLocks noChangeAspect="1"/>
          </p:cNvPicPr>
          <p:nvPr/>
        </p:nvPicPr>
        <p:blipFill>
          <a:blip r:embed="rId9"/>
          <a:stretch>
            <a:fillRect/>
          </a:stretch>
        </p:blipFill>
        <p:spPr>
          <a:xfrm>
            <a:off x="6858000" y="2377440"/>
            <a:ext cx="457200" cy="457200"/>
          </a:xfrm>
          <a:prstGeom prst="rect">
            <a:avLst/>
          </a:prstGeom>
        </p:spPr>
      </p:pic>
      <p:sp>
        <p:nvSpPr>
          <p:cNvPr id="34" name="TextBox 33"/>
          <p:cNvSpPr txBox="1"/>
          <p:nvPr/>
        </p:nvSpPr>
        <p:spPr>
          <a:xfrm>
            <a:off x="7452360" y="2395728"/>
            <a:ext cx="3931920" cy="457200"/>
          </a:xfrm>
          <a:prstGeom prst="rect">
            <a:avLst/>
          </a:prstGeom>
          <a:noFill/>
        </p:spPr>
        <p:txBody>
          <a:bodyPr wrap="square" anchor="t" lIns="0" rIns="0" tIns="0" bIns="0">
            <a:spAutoFit/>
          </a:bodyPr>
          <a:lstStyle/>
          <a:p>
            <a:pPr algn="l">
              <a:lnSpc>
                <a:spcPct val="115000"/>
              </a:lnSpc>
            </a:pPr>
            <a:r>
              <a:rPr sz="2000" b="1" i="0">
                <a:solidFill>
                  <a:srgbClr val="FFFDF7"/>
                </a:solidFill>
                <a:latin typeface="Georgia"/>
              </a:rPr>
              <a:t>For the administration</a:t>
            </a:r>
          </a:p>
        </p:txBody>
      </p:sp>
      <p:sp>
        <p:nvSpPr>
          <p:cNvPr id="35" name="TextBox 34"/>
          <p:cNvSpPr txBox="1"/>
          <p:nvPr/>
        </p:nvSpPr>
        <p:spPr>
          <a:xfrm>
            <a:off x="6903720" y="3017520"/>
            <a:ext cx="4480560" cy="1280160"/>
          </a:xfrm>
          <a:prstGeom prst="rect">
            <a:avLst/>
          </a:prstGeom>
          <a:noFill/>
        </p:spPr>
        <p:txBody>
          <a:bodyPr wrap="square" anchor="t" lIns="0" rIns="0" tIns="0" bIns="0">
            <a:spAutoFit/>
          </a:bodyPr>
          <a:lstStyle/>
          <a:p>
            <a:pPr algn="l">
              <a:lnSpc>
                <a:spcPct val="130000"/>
              </a:lnSpc>
            </a:pPr>
            <a:r>
              <a:rPr sz="1400" b="0" i="0">
                <a:solidFill>
                  <a:srgbClr val="CFC8BB"/>
                </a:solidFill>
                <a:latin typeface="Verdana"/>
              </a:rPr>
              <a:t>Complete applications from the registers.</a:t>
            </a:r>
          </a:p>
          <a:p>
            <a:pPr algn="l">
              <a:lnSpc>
                <a:spcPct val="130000"/>
              </a:lnSpc>
            </a:pPr>
            <a:r>
              <a:rPr sz="1400" b="0" i="0">
                <a:solidFill>
                  <a:srgbClr val="CFC8BB"/>
                </a:solidFill>
                <a:latin typeface="Verdana"/>
              </a:rPr>
              <a:t>Clean cases without a counter visit.</a:t>
            </a:r>
          </a:p>
          <a:p>
            <a:pPr algn="l">
              <a:lnSpc>
                <a:spcPct val="130000"/>
              </a:lnSpc>
            </a:pPr>
            <a:r>
              <a:rPr sz="1400" b="0" i="0">
                <a:solidFill>
                  <a:srgbClr val="CFC8BB"/>
                </a:solidFill>
                <a:latin typeface="Verdana"/>
              </a:rPr>
              <a:t>Staff time for the hard cases.</a:t>
            </a:r>
          </a:p>
        </p:txBody>
      </p:sp>
      <p:sp>
        <p:nvSpPr>
          <p:cNvPr id="36" name="Rounded Rectangle 35"/>
          <p:cNvSpPr/>
          <p:nvPr/>
        </p:nvSpPr>
        <p:spPr>
          <a:xfrm>
            <a:off x="6583680" y="4526280"/>
            <a:ext cx="1591056" cy="146304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766560" y="4663440"/>
            <a:ext cx="1280160" cy="640080"/>
          </a:xfrm>
          <a:prstGeom prst="rect">
            <a:avLst/>
          </a:prstGeom>
          <a:noFill/>
        </p:spPr>
        <p:txBody>
          <a:bodyPr wrap="square" anchor="t" lIns="0" rIns="0" tIns="0" bIns="0">
            <a:spAutoFit/>
          </a:bodyPr>
          <a:lstStyle/>
          <a:p>
            <a:pPr algn="l">
              <a:lnSpc>
                <a:spcPct val="115000"/>
              </a:lnSpc>
            </a:pPr>
            <a:r>
              <a:rPr sz="3200" b="1" i="0">
                <a:solidFill>
                  <a:srgbClr val="C8102E"/>
                </a:solidFill>
                <a:latin typeface="Georgia"/>
              </a:rPr>
              <a:t>33</a:t>
            </a:r>
          </a:p>
        </p:txBody>
      </p:sp>
      <p:sp>
        <p:nvSpPr>
          <p:cNvPr id="38" name="TextBox 37"/>
          <p:cNvSpPr txBox="1"/>
          <p:nvPr/>
        </p:nvSpPr>
        <p:spPr>
          <a:xfrm>
            <a:off x="6766560" y="5349240"/>
            <a:ext cx="1280160" cy="548640"/>
          </a:xfrm>
          <a:prstGeom prst="rect">
            <a:avLst/>
          </a:prstGeom>
          <a:noFill/>
        </p:spPr>
        <p:txBody>
          <a:bodyPr wrap="square" anchor="t" lIns="0" rIns="0" tIns="0" bIns="0">
            <a:spAutoFit/>
          </a:bodyPr>
          <a:lstStyle/>
          <a:p>
            <a:pPr algn="l">
              <a:lnSpc>
                <a:spcPct val="115000"/>
              </a:lnSpc>
            </a:pPr>
            <a:r>
              <a:rPr sz="1200" b="0" i="0">
                <a:solidFill>
                  <a:srgbClr val="4A4540"/>
                </a:solidFill>
                <a:latin typeface="Verdana"/>
              </a:rPr>
              <a:t>unit tests</a:t>
            </a:r>
          </a:p>
        </p:txBody>
      </p:sp>
      <p:sp>
        <p:nvSpPr>
          <p:cNvPr id="39" name="Rounded Rectangle 38"/>
          <p:cNvSpPr/>
          <p:nvPr/>
        </p:nvSpPr>
        <p:spPr>
          <a:xfrm>
            <a:off x="8302752" y="4526280"/>
            <a:ext cx="1591056" cy="146304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485632" y="4663440"/>
            <a:ext cx="1280160" cy="640080"/>
          </a:xfrm>
          <a:prstGeom prst="rect">
            <a:avLst/>
          </a:prstGeom>
          <a:noFill/>
        </p:spPr>
        <p:txBody>
          <a:bodyPr wrap="square" anchor="t" lIns="0" rIns="0" tIns="0" bIns="0">
            <a:spAutoFit/>
          </a:bodyPr>
          <a:lstStyle/>
          <a:p>
            <a:pPr algn="l">
              <a:lnSpc>
                <a:spcPct val="115000"/>
              </a:lnSpc>
            </a:pPr>
            <a:r>
              <a:rPr sz="3200" b="1" i="0">
                <a:solidFill>
                  <a:srgbClr val="C8102E"/>
                </a:solidFill>
                <a:latin typeface="Georgia"/>
              </a:rPr>
              <a:t>9/9</a:t>
            </a:r>
          </a:p>
        </p:txBody>
      </p:sp>
      <p:sp>
        <p:nvSpPr>
          <p:cNvPr id="41" name="TextBox 40"/>
          <p:cNvSpPr txBox="1"/>
          <p:nvPr/>
        </p:nvSpPr>
        <p:spPr>
          <a:xfrm>
            <a:off x="8485632" y="5349240"/>
            <a:ext cx="1280160" cy="548640"/>
          </a:xfrm>
          <a:prstGeom prst="rect">
            <a:avLst/>
          </a:prstGeom>
          <a:noFill/>
        </p:spPr>
        <p:txBody>
          <a:bodyPr wrap="square" anchor="t" lIns="0" rIns="0" tIns="0" bIns="0">
            <a:spAutoFit/>
          </a:bodyPr>
          <a:lstStyle/>
          <a:p>
            <a:pPr algn="l">
              <a:lnSpc>
                <a:spcPct val="115000"/>
              </a:lnSpc>
            </a:pPr>
            <a:r>
              <a:rPr sz="1200" b="0" i="0">
                <a:solidFill>
                  <a:srgbClr val="4A4540"/>
                </a:solidFill>
                <a:latin typeface="Verdana"/>
              </a:rPr>
              <a:t>AI scenario evals</a:t>
            </a:r>
          </a:p>
        </p:txBody>
      </p:sp>
      <p:sp>
        <p:nvSpPr>
          <p:cNvPr id="42" name="Rounded Rectangle 41"/>
          <p:cNvSpPr/>
          <p:nvPr/>
        </p:nvSpPr>
        <p:spPr>
          <a:xfrm>
            <a:off x="10021824" y="4526280"/>
            <a:ext cx="1591056" cy="1463040"/>
          </a:xfrm>
          <a:prstGeom prst="roundRect">
            <a:avLst>
              <a:gd name="adj" fmla="val 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04704" y="4663440"/>
            <a:ext cx="1280160" cy="640080"/>
          </a:xfrm>
          <a:prstGeom prst="rect">
            <a:avLst/>
          </a:prstGeom>
          <a:noFill/>
        </p:spPr>
        <p:txBody>
          <a:bodyPr wrap="square" anchor="t" lIns="0" rIns="0" tIns="0" bIns="0">
            <a:spAutoFit/>
          </a:bodyPr>
          <a:lstStyle/>
          <a:p>
            <a:pPr algn="l">
              <a:lnSpc>
                <a:spcPct val="115000"/>
              </a:lnSpc>
            </a:pPr>
            <a:r>
              <a:rPr sz="3200" b="1" i="0">
                <a:solidFill>
                  <a:srgbClr val="C8102E"/>
                </a:solidFill>
                <a:latin typeface="Georgia"/>
              </a:rPr>
              <a:t>2</a:t>
            </a:r>
          </a:p>
        </p:txBody>
      </p:sp>
      <p:sp>
        <p:nvSpPr>
          <p:cNvPr id="44" name="TextBox 43"/>
          <p:cNvSpPr txBox="1"/>
          <p:nvPr/>
        </p:nvSpPr>
        <p:spPr>
          <a:xfrm>
            <a:off x="10204704" y="5349240"/>
            <a:ext cx="1280160" cy="548640"/>
          </a:xfrm>
          <a:prstGeom prst="rect">
            <a:avLst/>
          </a:prstGeom>
          <a:noFill/>
        </p:spPr>
        <p:txBody>
          <a:bodyPr wrap="square" anchor="t" lIns="0" rIns="0" tIns="0" bIns="0">
            <a:spAutoFit/>
          </a:bodyPr>
          <a:lstStyle/>
          <a:p>
            <a:pPr algn="l">
              <a:lnSpc>
                <a:spcPct val="115000"/>
              </a:lnSpc>
            </a:pPr>
            <a:r>
              <a:rPr sz="1200" b="0" i="0">
                <a:solidFill>
                  <a:srgbClr val="4A4540"/>
                </a:solidFill>
                <a:latin typeface="Verdana"/>
              </a:rPr>
              <a:t>languages</a:t>
            </a:r>
          </a:p>
        </p:txBody>
      </p:sp>
      <p:sp>
        <p:nvSpPr>
          <p:cNvPr id="45" name="TextBox 44"/>
          <p:cNvSpPr txBox="1"/>
          <p:nvPr/>
        </p:nvSpPr>
        <p:spPr>
          <a:xfrm>
            <a:off x="6583680" y="6053328"/>
            <a:ext cx="5029200" cy="274320"/>
          </a:xfrm>
          <a:prstGeom prst="rect">
            <a:avLst/>
          </a:prstGeom>
          <a:noFill/>
        </p:spPr>
        <p:txBody>
          <a:bodyPr wrap="square" anchor="t" lIns="0" rIns="0" tIns="0" bIns="0">
            <a:spAutoFit/>
          </a:bodyPr>
          <a:lstStyle/>
          <a:p>
            <a:pPr algn="l">
              <a:lnSpc>
                <a:spcPct val="115000"/>
              </a:lnSpc>
            </a:pPr>
            <a:r>
              <a:rPr sz="1000" b="0" i="0">
                <a:solidFill>
                  <a:srgbClr val="6B5E4A"/>
                </a:solidFill>
                <a:latin typeface="Verdana"/>
              </a:rPr>
              <a:t>Cloudflare Workers AI  ·  Durable Objects  ·  ElevenLabs voice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2333"/>
        </a:solidFill>
        <a:effectLst/>
      </p:bgPr>
    </p:bg>
    <p:spTree>
      <p:nvGrpSpPr>
        <p:cNvPr id="1" name=""/>
        <p:cNvGrpSpPr/>
        <p:nvPr/>
      </p:nvGrpSpPr>
      <p:grpSpPr/>
      <p:sp>
        <p:nvSpPr>
          <p:cNvPr id="2" name="Oval 1"/>
          <p:cNvSpPr/>
          <p:nvPr/>
        </p:nvSpPr>
        <p:spPr>
          <a:xfrm>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rot="72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rot="144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rot="216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rot="288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rot="360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rot="432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rot="504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rot="576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rot="648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rot="720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rot="792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rot="864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rot="936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10080000">
            <a:off x="7772400" y="2792578"/>
            <a:ext cx="4389120" cy="1272844"/>
          </a:xfrm>
          <a:prstGeom prst="ellipse">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188720"/>
            <a:ext cx="8229600" cy="2377440"/>
          </a:xfrm>
          <a:prstGeom prst="rect">
            <a:avLst/>
          </a:prstGeom>
          <a:noFill/>
        </p:spPr>
        <p:txBody>
          <a:bodyPr wrap="square" anchor="t" lIns="0" rIns="0" tIns="0" bIns="0">
            <a:spAutoFit/>
          </a:bodyPr>
          <a:lstStyle/>
          <a:p>
            <a:pPr algn="l">
              <a:lnSpc>
                <a:spcPct val="100000"/>
              </a:lnSpc>
            </a:pPr>
            <a:r>
              <a:rPr sz="6000" b="1" i="0">
                <a:solidFill>
                  <a:srgbClr val="FFFDF7"/>
                </a:solidFill>
                <a:latin typeface="Georgia"/>
              </a:rPr>
              <a:t>Die Ämter laufen.</a:t>
            </a:r>
          </a:p>
          <a:p>
            <a:pPr algn="l">
              <a:lnSpc>
                <a:spcPct val="100000"/>
              </a:lnSpc>
            </a:pPr>
            <a:r>
              <a:rPr sz="6000" b="1" i="0">
                <a:solidFill>
                  <a:srgbClr val="FF5A6E"/>
                </a:solidFill>
                <a:latin typeface="Georgia"/>
              </a:rPr>
              <a:t>Sie nicht.</a:t>
            </a:r>
          </a:p>
        </p:txBody>
      </p:sp>
      <p:sp>
        <p:nvSpPr>
          <p:cNvPr id="18" name="TextBox 17"/>
          <p:cNvSpPr txBox="1"/>
          <p:nvPr/>
        </p:nvSpPr>
        <p:spPr>
          <a:xfrm>
            <a:off x="731520" y="3337560"/>
            <a:ext cx="7772400" cy="548640"/>
          </a:xfrm>
          <a:prstGeom prst="rect">
            <a:avLst/>
          </a:prstGeom>
          <a:noFill/>
        </p:spPr>
        <p:txBody>
          <a:bodyPr wrap="square" anchor="t" lIns="0" rIns="0" tIns="0" bIns="0">
            <a:spAutoFit/>
          </a:bodyPr>
          <a:lstStyle/>
          <a:p>
            <a:pPr algn="l">
              <a:lnSpc>
                <a:spcPct val="115000"/>
              </a:lnSpc>
            </a:pPr>
            <a:r>
              <a:rPr sz="2600" b="0" i="1">
                <a:solidFill>
                  <a:srgbClr val="CFC8BB"/>
                </a:solidFill>
                <a:latin typeface="Georgia"/>
              </a:rPr>
              <a:t>The offices walk. You don’t.</a:t>
            </a:r>
          </a:p>
        </p:txBody>
      </p:sp>
      <p:sp>
        <p:nvSpPr>
          <p:cNvPr id="19" name="Oval 18"/>
          <p:cNvSpPr/>
          <p:nvPr/>
        </p:nvSpPr>
        <p:spPr>
          <a:xfrm>
            <a:off x="731520" y="4069080"/>
            <a:ext cx="566928" cy="566928"/>
          </a:xfrm>
          <a:prstGeom prst="ellipse">
            <a:avLst/>
          </a:prstGeom>
          <a:solidFill>
            <a:srgbClr val="FFE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ummit-i.png"/>
          <p:cNvPicPr>
            <a:picLocks noChangeAspect="1"/>
          </p:cNvPicPr>
          <p:nvPr/>
        </p:nvPicPr>
        <p:blipFill>
          <a:blip r:embed="rId2"/>
          <a:stretch>
            <a:fillRect/>
          </a:stretch>
        </p:blipFill>
        <p:spPr>
          <a:xfrm>
            <a:off x="867582" y="4205142"/>
            <a:ext cx="294804" cy="294804"/>
          </a:xfrm>
          <a:prstGeom prst="rect">
            <a:avLst/>
          </a:prstGeom>
        </p:spPr>
      </p:pic>
      <p:sp>
        <p:nvSpPr>
          <p:cNvPr id="21" name="TextBox 20"/>
          <p:cNvSpPr txBox="1"/>
          <p:nvPr/>
        </p:nvSpPr>
        <p:spPr>
          <a:xfrm>
            <a:off x="1463040" y="4160520"/>
            <a:ext cx="7315200" cy="457200"/>
          </a:xfrm>
          <a:prstGeom prst="rect">
            <a:avLst/>
          </a:prstGeom>
          <a:noFill/>
        </p:spPr>
        <p:txBody>
          <a:bodyPr wrap="square" anchor="t" lIns="0" rIns="0" tIns="0" bIns="0">
            <a:spAutoFit/>
          </a:bodyPr>
          <a:lstStyle/>
          <a:p>
            <a:pPr algn="l">
              <a:lnSpc>
                <a:spcPct val="115000"/>
              </a:lnSpc>
            </a:pPr>
            <a:r>
              <a:rPr sz="2200" b="1" i="0">
                <a:solidFill>
                  <a:srgbClr val="FFFDF7"/>
                </a:solidFill>
                <a:latin typeface="Verdana"/>
              </a:rPr>
              <a:t>Make it cool. </a:t>
            </a:r>
            <a:r>
              <a:rPr sz="2200" b="1" i="0">
                <a:solidFill>
                  <a:srgbClr val="FFE45C"/>
                </a:solidFill>
                <a:latin typeface="Verdana"/>
              </a:rPr>
              <a:t>Make it fun. </a:t>
            </a:r>
            <a:r>
              <a:rPr sz="2200" b="1" i="0">
                <a:solidFill>
                  <a:srgbClr val="FFFDF7"/>
                </a:solidFill>
                <a:latin typeface="Verdana"/>
              </a:rPr>
              <a:t>Earn your Gipfelstempel.</a:t>
            </a:r>
          </a:p>
        </p:txBody>
      </p:sp>
      <p:sp>
        <p:nvSpPr>
          <p:cNvPr id="22" name="Rounded Rectangle 21"/>
          <p:cNvSpPr/>
          <p:nvPr/>
        </p:nvSpPr>
        <p:spPr>
          <a:xfrm>
            <a:off x="731520" y="5166360"/>
            <a:ext cx="566928" cy="566928"/>
          </a:xfrm>
          <a:prstGeom prst="roundRect">
            <a:avLst>
              <a:gd name="adj" fmla="val 1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520" y="5355336"/>
            <a:ext cx="566928" cy="18897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4" name="Connector 23"/>
          <p:cNvCxnSpPr/>
          <p:nvPr/>
        </p:nvCxnSpPr>
        <p:spPr>
          <a:xfrm>
            <a:off x="873252" y="5449824"/>
            <a:ext cx="283464" cy="0"/>
          </a:xfrm>
          <a:prstGeom prst="line">
            <a:avLst/>
          </a:prstGeom>
          <a:ln w="23622">
            <a:solidFill>
              <a:srgbClr val="C8102E"/>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26008" y="5402580"/>
            <a:ext cx="94488" cy="94488"/>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67740" y="5402580"/>
            <a:ext cx="94488" cy="94488"/>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09472" y="5402580"/>
            <a:ext cx="94488" cy="94488"/>
          </a:xfrm>
          <a:prstGeom prst="ellipse">
            <a:avLst/>
          </a:prstGeom>
          <a:solidFill>
            <a:srgbClr val="FFFDF7"/>
          </a:solidFill>
          <a:ln w="23622">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463040" y="5212080"/>
            <a:ext cx="6400800" cy="502920"/>
          </a:xfrm>
          <a:prstGeom prst="rect">
            <a:avLst/>
          </a:prstGeom>
          <a:noFill/>
        </p:spPr>
        <p:txBody>
          <a:bodyPr wrap="square" anchor="t" lIns="0" rIns="0" tIns="0" bIns="0">
            <a:spAutoFit/>
          </a:bodyPr>
          <a:lstStyle/>
          <a:p>
            <a:pPr algn="l">
              <a:lnSpc>
                <a:spcPct val="115000"/>
              </a:lnSpc>
            </a:pPr>
            <a:r>
              <a:rPr sz="1800" b="1" i="0">
                <a:solidFill>
                  <a:srgbClr val="FFFDF7"/>
                </a:solidFill>
                <a:latin typeface="Georgia"/>
              </a:rPr>
              <a:t>Laufzettel  ·  oesterreich.gv.at 2030</a:t>
            </a:r>
          </a:p>
        </p:txBody>
      </p:sp>
      <p:sp>
        <p:nvSpPr>
          <p:cNvPr id="29" name="TextBox 28"/>
          <p:cNvSpPr txBox="1"/>
          <p:nvPr/>
        </p:nvSpPr>
        <p:spPr>
          <a:xfrm>
            <a:off x="1463040" y="5669280"/>
            <a:ext cx="6400800" cy="365760"/>
          </a:xfrm>
          <a:prstGeom prst="rect">
            <a:avLst/>
          </a:prstGeom>
          <a:noFill/>
        </p:spPr>
        <p:txBody>
          <a:bodyPr wrap="square" anchor="t" lIns="0" rIns="0" tIns="0" bIns="0">
            <a:spAutoFit/>
          </a:bodyPr>
          <a:lstStyle/>
          <a:p>
            <a:pPr algn="l">
              <a:lnSpc>
                <a:spcPct val="115000"/>
              </a:lnSpc>
            </a:pPr>
            <a:r>
              <a:rPr sz="1200" b="0" i="0">
                <a:solidFill>
                  <a:srgbClr val="CFC8BB"/>
                </a:solidFill>
                <a:latin typeface="Verdana"/>
              </a:rPr>
              <a:t>Try it live: [demo link]   ·   [team name]</a:t>
            </a:r>
          </a:p>
        </p:txBody>
      </p:sp>
      <p:sp>
        <p:nvSpPr>
          <p:cNvPr id="30" name="Rounded Rectangle 29"/>
          <p:cNvSpPr/>
          <p:nvPr/>
        </p:nvSpPr>
        <p:spPr>
          <a:xfrm rot="21120000">
            <a:off x="8778240" y="2926080"/>
            <a:ext cx="2377440" cy="1005840"/>
          </a:xfrm>
          <a:prstGeom prst="roundRect">
            <a:avLst>
              <a:gd name="adj" fmla="val 12000"/>
            </a:avLst>
          </a:prstGeom>
          <a:noFill/>
          <a:ln w="38100">
            <a:solidFill>
              <a:srgbClr val="FF5A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rot="21120000">
            <a:off x="8851392" y="2999232"/>
            <a:ext cx="2231136" cy="859536"/>
          </a:xfrm>
          <a:prstGeom prst="roundRect">
            <a:avLst>
              <a:gd name="adj" fmla="val 10000"/>
            </a:avLst>
          </a:prstGeom>
          <a:noFill/>
          <a:ln w="12700">
            <a:solidFill>
              <a:srgbClr val="FF5A6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5A6E"/>
                </a:solidFill>
                <a:latin typeface="Verdana"/>
              </a:rPr>
              <a:t>LENA HUBER</a:t>
            </a:r>
          </a:p>
          <a:p>
            <a:pPr algn="ctr"/>
            <a:r>
              <a:rPr sz="2400" b="1">
                <a:solidFill>
                  <a:srgbClr val="FF5A6E"/>
                </a:solidFill>
                <a:latin typeface="Georgia"/>
              </a:rPr>
              <a:t>ERLEDIGT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